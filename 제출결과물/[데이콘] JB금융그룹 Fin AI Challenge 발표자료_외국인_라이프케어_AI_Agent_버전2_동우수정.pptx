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77" r:id="rId12"/>
    <p:sldId id="265" r:id="rId13"/>
    <p:sldId id="275" r:id="rId14"/>
    <p:sldId id="266" r:id="rId15"/>
    <p:sldId id="269" r:id="rId16"/>
    <p:sldId id="267" r:id="rId17"/>
    <p:sldId id="268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5A8"/>
    <a:srgbClr val="5E7A8C"/>
    <a:srgbClr val="E1793F"/>
    <a:srgbClr val="294F6F"/>
    <a:srgbClr val="1B395C"/>
    <a:srgbClr val="122D51"/>
    <a:srgbClr val="142551"/>
    <a:srgbClr val="3B4E80"/>
    <a:srgbClr val="2633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/>
    <p:restoredTop sz="94746"/>
  </p:normalViewPr>
  <p:slideViewPr>
    <p:cSldViewPr snapToGrid="0" snapToObjects="1">
      <p:cViewPr varScale="1">
        <p:scale>
          <a:sx n="147" d="100"/>
          <a:sy n="147" d="100"/>
        </p:scale>
        <p:origin x="8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89159-77C4-4647-9103-D4FC213B52C9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7F7FB-A5C3-C14F-88A7-7B09E9D0CB1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05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7F7FB-A5C3-C14F-88A7-7B09E9D0CB14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9512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데이콘, JB금융그룹 Fin:AI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외국인</a:t>
            </a:r>
            <a:r>
              <a:rPr sz="46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라이프케어</a:t>
            </a:r>
            <a:r>
              <a:rPr sz="46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AI Agent</a:t>
            </a:r>
          </a:p>
          <a:p>
            <a:pPr algn="l"/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입국부터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귀국까지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외국인의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금융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권리와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마감을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챙기는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능동형</a:t>
            </a:r>
            <a:r>
              <a:rPr sz="1700" b="0" dirty="0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 AI </a:t>
            </a:r>
            <a:r>
              <a:rPr sz="1700" b="0" dirty="0" err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에이전트</a:t>
            </a:r>
            <a:endParaRPr sz="1700" b="0" dirty="0">
              <a:solidFill>
                <a:srgbClr val="C5D2E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1832" y="4297680"/>
            <a:ext cx="201168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 err="1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자산관리</a:t>
            </a:r>
            <a:r>
              <a:rPr sz="1350" b="0" dirty="0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50" b="0" dirty="0" err="1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서류행정</a:t>
            </a:r>
            <a:r>
              <a:rPr sz="1350" b="0" dirty="0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50" b="0" dirty="0" err="1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사기탐지</a:t>
            </a:r>
            <a:r>
              <a:rPr lang="ko-KR" altLang="en-US" sz="1350" b="0" dirty="0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50" b="0" dirty="0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350" b="0" dirty="0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가지 분야를 담당하는 </a:t>
            </a:r>
            <a:r>
              <a:rPr sz="1350" b="0" dirty="0" err="1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멀티</a:t>
            </a:r>
            <a:r>
              <a:rPr sz="1350" b="0" dirty="0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에이전트</a:t>
            </a:r>
            <a:endParaRPr sz="1350" b="0" dirty="0">
              <a:solidFill>
                <a:srgbClr val="AEBED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14400" y="4983480"/>
            <a:ext cx="100584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 err="1">
                <a:solidFill>
                  <a:srgbClr val="AEBED8"/>
                </a:solidFill>
                <a:latin typeface="Pretendard"/>
                <a:ea typeface="Pretendard"/>
                <a:cs typeface="Pretendard"/>
              </a:rPr>
              <a:t>팀 폴인포린 | 권준서, 곽동우, 고승윤, 박시현</a:t>
            </a:r>
            <a:endParaRPr sz="1350" b="0" dirty="0">
              <a:solidFill>
                <a:srgbClr val="AEBED8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5371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목차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(Agenda)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460" y="225765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7260" y="2285086"/>
            <a:ext cx="4754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Summary (팀, 서비스 소개)</a:t>
            </a:r>
            <a:endParaRPr sz="1500" b="0" dirty="0">
              <a:solidFill>
                <a:srgbClr val="161B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7180" y="2824582"/>
            <a:ext cx="5120640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460" y="3016606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7260" y="3044037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문제 정의 (Problem Definition)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180" y="3583534"/>
            <a:ext cx="5120640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460" y="377555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7260" y="3802989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제안 솔루션 개요 (Solution Overview)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180" y="4342486"/>
            <a:ext cx="5120640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460" y="4534509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7260" y="456194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주요 기능 정의 (Key Features)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180" y="5101438"/>
            <a:ext cx="5120640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0740" y="225765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6540" y="228508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데이터 및 기술 활용 (Data &amp; Tech)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6460" y="2824582"/>
            <a:ext cx="5120640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50740" y="3016606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6540" y="3044037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사용자 시나리오 (User Scenario)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6460" y="3583534"/>
            <a:ext cx="5120640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50740" y="377555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6540" y="3802989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기대 효과 및 향후 확장성 (Expected Impact)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6460" y="4342486"/>
            <a:ext cx="5120640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44" name="Picture 4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08792" cy="84124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" name="TextBox 7"/>
          <p:cNvSpPr txBox="1"/>
          <p:nvPr/>
        </p:nvSpPr>
        <p:spPr>
          <a:xfrm>
            <a:off x="914400" y="1730222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팀명</a:t>
            </a:r>
            <a:endParaRPr sz="140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66160" y="174561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dirty="0" err="1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폴인포린</a:t>
            </a:r>
            <a:endParaRPr sz="1200" dirty="0">
              <a:solidFill>
                <a:srgbClr val="161B26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395728"/>
            <a:ext cx="10908792" cy="84124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914400" y="270863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24018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dirty="0" err="1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권준서</a:t>
            </a:r>
            <a:r>
              <a:rPr sz="1200" dirty="0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곽동우, </a:t>
            </a:r>
            <a:r>
              <a:rPr sz="1200" dirty="0" err="1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고승윤</a:t>
            </a:r>
            <a:r>
              <a:rPr sz="1200" dirty="0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sz="1200" dirty="0" err="1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박시현</a:t>
            </a:r>
            <a:endParaRPr sz="1200" dirty="0">
              <a:solidFill>
                <a:srgbClr val="161B26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374136"/>
            <a:ext cx="10908792" cy="841248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" name="TextBox 13"/>
          <p:cNvSpPr txBox="1"/>
          <p:nvPr/>
        </p:nvSpPr>
        <p:spPr>
          <a:xfrm>
            <a:off x="914400" y="3687038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서비스명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02426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외국인 라이프케어 AI Agent</a:t>
            </a:r>
          </a:p>
        </p:txBody>
      </p:sp>
      <p:pic>
        <p:nvPicPr>
          <p:cNvPr id="16" name="Picture 1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6" name="Rounded Rectangle 6"/>
          <p:cNvSpPr/>
          <p:nvPr/>
        </p:nvSpPr>
        <p:spPr>
          <a:xfrm>
            <a:off x="640080" y="4352544"/>
            <a:ext cx="10908792" cy="84124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TextBox 7"/>
          <p:cNvSpPr txBox="1"/>
          <p:nvPr/>
        </p:nvSpPr>
        <p:spPr>
          <a:xfrm>
            <a:off x="914400" y="4665446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9" name="TextBox 8"/>
          <p:cNvSpPr txBox="1"/>
          <p:nvPr/>
        </p:nvSpPr>
        <p:spPr>
          <a:xfrm>
            <a:off x="3566160" y="4680834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자유주제 (외국인 금융 라이프케어 AI)</a:t>
            </a:r>
          </a:p>
        </p:txBody>
      </p:sp>
      <p:sp>
        <p:nvSpPr>
          <p:cNvPr id="20" name="Rounded Rectangle 6"/>
          <p:cNvSpPr/>
          <p:nvPr/>
        </p:nvSpPr>
        <p:spPr>
          <a:xfrm>
            <a:off x="640080" y="5330952"/>
            <a:ext cx="10908792" cy="84124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" name="TextBox 7"/>
          <p:cNvSpPr txBox="1"/>
          <p:nvPr/>
        </p:nvSpPr>
        <p:spPr>
          <a:xfrm>
            <a:off x="914400" y="5643854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한줄소개</a:t>
            </a:r>
          </a:p>
        </p:txBody>
      </p:sp>
      <p:sp>
        <p:nvSpPr>
          <p:cNvPr id="22" name="TextBox 8"/>
          <p:cNvSpPr txBox="1"/>
          <p:nvPr/>
        </p:nvSpPr>
        <p:spPr>
          <a:xfrm>
            <a:off x="3566160" y="5659242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161B26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입국부터 귀국까지, 외국인의 금융 권리와 마감을 먼저 챙겨 신청까지 대신 처리하는 능동형 AI 에이전트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02-A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문제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정의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능동성의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부재</a:t>
            </a:r>
            <a:endParaRPr sz="250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36" name="Shape 0">
            <a:extLst>
              <a:ext uri="{FF2B5EF4-FFF2-40B4-BE49-F238E27FC236}">
                <a16:creationId xmlns:a16="http://schemas.microsoft.com/office/drawing/2014/main" id="{8A8071BB-0CCF-1753-364F-0CBF7A4B441B}"/>
              </a:ext>
            </a:extLst>
          </p:cNvPr>
          <p:cNvSpPr/>
          <p:nvPr/>
        </p:nvSpPr>
        <p:spPr>
          <a:xfrm>
            <a:off x="640080" y="1237837"/>
            <a:ext cx="11091672" cy="1124712"/>
          </a:xfrm>
          <a:prstGeom prst="roundRect">
            <a:avLst>
              <a:gd name="adj" fmla="val 8000"/>
            </a:avLst>
          </a:prstGeom>
          <a:solidFill>
            <a:srgbClr val="1B254E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0DEB46C6-A97B-3343-5982-F142DB2D859D}"/>
              </a:ext>
            </a:extLst>
          </p:cNvPr>
          <p:cNvSpPr/>
          <p:nvPr/>
        </p:nvSpPr>
        <p:spPr>
          <a:xfrm>
            <a:off x="1097280" y="1073767"/>
            <a:ext cx="10177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국내 체류 외국인 약 </a:t>
            </a:r>
            <a:r>
              <a:rPr lang="en-US" sz="1900" b="1" dirty="0">
                <a:solidFill>
                  <a:srgbClr val="FFD24D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260만 </a:t>
            </a:r>
            <a:r>
              <a:rPr lang="en-US" sz="1900" b="1" dirty="0" err="1">
                <a:solidFill>
                  <a:srgbClr val="FFD24D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명</a:t>
            </a:r>
            <a:endParaRPr lang="en-US" sz="19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 err="1">
                <a:solidFill>
                  <a:srgbClr val="E8EC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그러나</a:t>
            </a:r>
            <a:r>
              <a:rPr lang="en-US" sz="1900" dirty="0">
                <a:solidFill>
                  <a:srgbClr val="E8EC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외국인 고객들은 받을 돈이 있는지도, 신청 마감이 언제인지도 </a:t>
            </a:r>
            <a:r>
              <a:rPr lang="en-US" sz="1900" b="1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모른 채 </a:t>
            </a:r>
            <a:r>
              <a:rPr lang="en-US" sz="1900" b="1" dirty="0" err="1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시기를</a:t>
            </a:r>
            <a:r>
              <a:rPr lang="en-US" sz="1900" b="1" dirty="0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놓친다</a:t>
            </a:r>
            <a:endParaRPr lang="en-US" sz="19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A73AF5F1-C48C-1E56-9ED0-7FFDA276C573}"/>
              </a:ext>
            </a:extLst>
          </p:cNvPr>
          <p:cNvSpPr/>
          <p:nvPr/>
        </p:nvSpPr>
        <p:spPr>
          <a:xfrm>
            <a:off x="640080" y="2526619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고객들이 겪는 현실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C099CBD4-BB89-2DDA-DF51-91F7E3863CBD}"/>
              </a:ext>
            </a:extLst>
          </p:cNvPr>
          <p:cNvSpPr/>
          <p:nvPr/>
        </p:nvSpPr>
        <p:spPr>
          <a:xfrm>
            <a:off x="640080" y="2947243"/>
            <a:ext cx="3483864" cy="2148840"/>
          </a:xfrm>
          <a:prstGeom prst="roundRect">
            <a:avLst>
              <a:gd name="adj" fmla="val 425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2039EA4F-8DE4-64C3-FE11-ABEB39555E22}"/>
              </a:ext>
            </a:extLst>
          </p:cNvPr>
          <p:cNvSpPr/>
          <p:nvPr/>
        </p:nvSpPr>
        <p:spPr>
          <a:xfrm>
            <a:off x="932688" y="3258139"/>
            <a:ext cx="713232" cy="713232"/>
          </a:xfrm>
          <a:prstGeom prst="ellipse">
            <a:avLst/>
          </a:prstGeom>
          <a:solidFill>
            <a:srgbClr val="E3E7F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D03E20CC-2128-9FFB-4B79-B64A5AF74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3431875"/>
            <a:ext cx="365760" cy="365760"/>
          </a:xfrm>
          <a:prstGeom prst="rect">
            <a:avLst/>
          </a:prstGeom>
        </p:spPr>
      </p:pic>
      <p:sp>
        <p:nvSpPr>
          <p:cNvPr id="42" name="Text 5">
            <a:extLst>
              <a:ext uri="{FF2B5EF4-FFF2-40B4-BE49-F238E27FC236}">
                <a16:creationId xmlns:a16="http://schemas.microsoft.com/office/drawing/2014/main" id="{4BA0166C-0FB7-0C1F-34A0-42DCAE3C578F}"/>
              </a:ext>
            </a:extLst>
          </p:cNvPr>
          <p:cNvSpPr/>
          <p:nvPr/>
        </p:nvSpPr>
        <p:spPr>
          <a:xfrm>
            <a:off x="1847088" y="3313003"/>
            <a:ext cx="209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A5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① </a:t>
            </a:r>
            <a:r>
              <a:rPr lang="en-US" sz="2000" b="1" dirty="0" err="1">
                <a:solidFill>
                  <a:srgbClr val="1F2A5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모름</a:t>
            </a:r>
            <a:endParaRPr lang="en-US" sz="20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047F8590-91E1-9148-232E-A6EB49EE3E30}"/>
              </a:ext>
            </a:extLst>
          </p:cNvPr>
          <p:cNvSpPr/>
          <p:nvPr/>
        </p:nvSpPr>
        <p:spPr>
          <a:xfrm>
            <a:off x="932688" y="4154251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받을 권리가 있는 자산을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절차를 몰라 놓친다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DEF55281-4315-0EFF-BE60-24D73602F9F5}"/>
              </a:ext>
            </a:extLst>
          </p:cNvPr>
          <p:cNvSpPr/>
          <p:nvPr/>
        </p:nvSpPr>
        <p:spPr>
          <a:xfrm>
            <a:off x="4443984" y="2947243"/>
            <a:ext cx="3483864" cy="2148840"/>
          </a:xfrm>
          <a:prstGeom prst="roundRect">
            <a:avLst>
              <a:gd name="adj" fmla="val 425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71F2A8EB-BD8E-0CC4-A528-AFE46328782A}"/>
              </a:ext>
            </a:extLst>
          </p:cNvPr>
          <p:cNvSpPr/>
          <p:nvPr/>
        </p:nvSpPr>
        <p:spPr>
          <a:xfrm>
            <a:off x="4736592" y="3258139"/>
            <a:ext cx="713232" cy="713232"/>
          </a:xfrm>
          <a:prstGeom prst="ellipse">
            <a:avLst/>
          </a:prstGeom>
          <a:solidFill>
            <a:srgbClr val="E3E7F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BDBA0120-702F-75A1-68F3-479053DB3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3431875"/>
            <a:ext cx="365760" cy="365760"/>
          </a:xfrm>
          <a:prstGeom prst="rect">
            <a:avLst/>
          </a:prstGeom>
        </p:spPr>
      </p:pic>
      <p:sp>
        <p:nvSpPr>
          <p:cNvPr id="47" name="Text 9">
            <a:extLst>
              <a:ext uri="{FF2B5EF4-FFF2-40B4-BE49-F238E27FC236}">
                <a16:creationId xmlns:a16="http://schemas.microsoft.com/office/drawing/2014/main" id="{7E48658C-3EE6-743A-A58D-AF93BDC16D98}"/>
              </a:ext>
            </a:extLst>
          </p:cNvPr>
          <p:cNvSpPr/>
          <p:nvPr/>
        </p:nvSpPr>
        <p:spPr>
          <a:xfrm>
            <a:off x="5650992" y="3313003"/>
            <a:ext cx="209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A5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② 포기</a:t>
            </a:r>
            <a:endParaRPr lang="en-US" sz="20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895406C4-ABC2-5BB2-A15B-E06489178BAD}"/>
              </a:ext>
            </a:extLst>
          </p:cNvPr>
          <p:cNvSpPr/>
          <p:nvPr/>
        </p:nvSpPr>
        <p:spPr>
          <a:xfrm>
            <a:off x="4736592" y="4154251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알게 되어도 한국어 신청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서식 앞에서 결국 포기한다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3D546DDC-EBA3-42CB-D60C-18C952432606}"/>
              </a:ext>
            </a:extLst>
          </p:cNvPr>
          <p:cNvSpPr/>
          <p:nvPr/>
        </p:nvSpPr>
        <p:spPr>
          <a:xfrm>
            <a:off x="8247888" y="2947243"/>
            <a:ext cx="3483864" cy="2148840"/>
          </a:xfrm>
          <a:prstGeom prst="roundRect">
            <a:avLst>
              <a:gd name="adj" fmla="val 425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FF806ACE-52CE-E4F2-C0EF-9EE9C4595407}"/>
              </a:ext>
            </a:extLst>
          </p:cNvPr>
          <p:cNvSpPr/>
          <p:nvPr/>
        </p:nvSpPr>
        <p:spPr>
          <a:xfrm>
            <a:off x="8540496" y="3258139"/>
            <a:ext cx="713232" cy="713232"/>
          </a:xfrm>
          <a:prstGeom prst="ellipse">
            <a:avLst/>
          </a:prstGeom>
          <a:solidFill>
            <a:srgbClr val="E3E7F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1" name="Image 2" descr="preencoded.png">
            <a:extLst>
              <a:ext uri="{FF2B5EF4-FFF2-40B4-BE49-F238E27FC236}">
                <a16:creationId xmlns:a16="http://schemas.microsoft.com/office/drawing/2014/main" id="{34E9AE24-5F11-050E-05E7-5CD9DE91F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232" y="3431875"/>
            <a:ext cx="365760" cy="365760"/>
          </a:xfrm>
          <a:prstGeom prst="rect">
            <a:avLst/>
          </a:prstGeom>
        </p:spPr>
      </p:pic>
      <p:sp>
        <p:nvSpPr>
          <p:cNvPr id="52" name="Text 13">
            <a:extLst>
              <a:ext uri="{FF2B5EF4-FFF2-40B4-BE49-F238E27FC236}">
                <a16:creationId xmlns:a16="http://schemas.microsoft.com/office/drawing/2014/main" id="{533E2666-A0BF-AC3E-4D51-461FE423D811}"/>
              </a:ext>
            </a:extLst>
          </p:cNvPr>
          <p:cNvSpPr/>
          <p:nvPr/>
        </p:nvSpPr>
        <p:spPr>
          <a:xfrm>
            <a:off x="9454896" y="3313003"/>
            <a:ext cx="209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A5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③ 부재</a:t>
            </a:r>
            <a:endParaRPr lang="en-US" sz="20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0958DFD2-8208-5D2A-8365-77A3F6FBD15B}"/>
              </a:ext>
            </a:extLst>
          </p:cNvPr>
          <p:cNvSpPr/>
          <p:nvPr/>
        </p:nvSpPr>
        <p:spPr>
          <a:xfrm>
            <a:off x="8540496" y="4154251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비자·체류 상황에 맞춰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능동적으로 챙겨 주는 주체가 없다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753CCD61-CABA-CCC8-D65F-FC7E65323FA1}"/>
              </a:ext>
            </a:extLst>
          </p:cNvPr>
          <p:cNvSpPr/>
          <p:nvPr/>
        </p:nvSpPr>
        <p:spPr>
          <a:xfrm>
            <a:off x="640080" y="535838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EF2FB"/>
          </a:solidFill>
          <a:ln w="12700">
            <a:solidFill>
              <a:srgbClr val="C9D4EC"/>
            </a:solidFill>
            <a:prstDash val="solid"/>
          </a:ln>
        </p:spPr>
        <p:txBody>
          <a:bodyPr/>
          <a:lstStyle/>
          <a:p>
            <a:endParaRPr lang="ko-KR" altLang="en-US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927C5D30-64CA-26FC-6F6C-5889941168B6}"/>
              </a:ext>
            </a:extLst>
          </p:cNvPr>
          <p:cNvSpPr/>
          <p:nvPr/>
        </p:nvSpPr>
        <p:spPr>
          <a:xfrm>
            <a:off x="1097280" y="5358384"/>
            <a:ext cx="10177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345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→  해법은 검색형 챗봇이 아니라</a:t>
            </a:r>
            <a:r>
              <a:rPr lang="en-US" sz="1800" b="1" dirty="0">
                <a:solidFill>
                  <a:srgbClr val="475067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 먼저 </a:t>
            </a:r>
            <a:r>
              <a:rPr lang="en-US" sz="1800" b="1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감지</a:t>
            </a:r>
            <a:r>
              <a:rPr lang="en-US" sz="1800" b="1" dirty="0">
                <a:solidFill>
                  <a:srgbClr val="475067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하고, </a:t>
            </a:r>
            <a:r>
              <a:rPr lang="en-US" sz="1800" b="1" dirty="0">
                <a:solidFill>
                  <a:srgbClr val="3A6EA5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판단</a:t>
            </a:r>
            <a:r>
              <a:rPr lang="en-US" sz="1800" b="1" dirty="0">
                <a:solidFill>
                  <a:srgbClr val="475067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하고, 대신 </a:t>
            </a:r>
            <a:r>
              <a:rPr lang="en-US" sz="1800" b="1" dirty="0">
                <a:solidFill>
                  <a:srgbClr val="1E7D4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행동</a:t>
            </a:r>
            <a:r>
              <a:rPr lang="en-US" sz="1800" b="1" dirty="0">
                <a:solidFill>
                  <a:srgbClr val="475067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하는 </a:t>
            </a:r>
            <a:r>
              <a:rPr lang="en-US" sz="1800" b="1" dirty="0">
                <a:solidFill>
                  <a:srgbClr val="1F2A5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AI 에이전트</a:t>
            </a:r>
            <a:endParaRPr lang="en-US" sz="18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02-B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문제 정의 - 근거 수치로 본 다섯 가지 손실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54" name="Shape 2">
            <a:extLst>
              <a:ext uri="{FF2B5EF4-FFF2-40B4-BE49-F238E27FC236}">
                <a16:creationId xmlns:a16="http://schemas.microsoft.com/office/drawing/2014/main" id="{C57270EB-6BC2-2D54-6991-A6ABE9FF0072}"/>
              </a:ext>
            </a:extLst>
          </p:cNvPr>
          <p:cNvSpPr/>
          <p:nvPr/>
        </p:nvSpPr>
        <p:spPr>
          <a:xfrm>
            <a:off x="548640" y="1417320"/>
            <a:ext cx="1998878" cy="3063240"/>
          </a:xfrm>
          <a:prstGeom prst="roundRect">
            <a:avLst>
              <a:gd name="adj" fmla="val 457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505CDB80-FE12-E658-1EFD-6879D08EC5BD}"/>
              </a:ext>
            </a:extLst>
          </p:cNvPr>
          <p:cNvSpPr/>
          <p:nvPr/>
        </p:nvSpPr>
        <p:spPr>
          <a:xfrm>
            <a:off x="749808" y="1655064"/>
            <a:ext cx="15965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못 받는 돈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A2E27BDA-E1D4-5CB8-F37D-4CE9C82145B2}"/>
              </a:ext>
            </a:extLst>
          </p:cNvPr>
          <p:cNvSpPr/>
          <p:nvPr/>
        </p:nvSpPr>
        <p:spPr>
          <a:xfrm>
            <a:off x="749808" y="2075688"/>
            <a:ext cx="566928" cy="566928"/>
          </a:xfrm>
          <a:prstGeom prst="ellipse">
            <a:avLst/>
          </a:prstGeom>
          <a:solidFill>
            <a:srgbClr val="E3E7F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6577A29D-91D0-F3D0-2CA5-2DE1C43C4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212848"/>
            <a:ext cx="292608" cy="292608"/>
          </a:xfrm>
          <a:prstGeom prst="rect">
            <a:avLst/>
          </a:prstGeom>
        </p:spPr>
      </p:pic>
      <p:sp>
        <p:nvSpPr>
          <p:cNvPr id="58" name="Text 5">
            <a:extLst>
              <a:ext uri="{FF2B5EF4-FFF2-40B4-BE49-F238E27FC236}">
                <a16:creationId xmlns:a16="http://schemas.microsoft.com/office/drawing/2014/main" id="{53C3D987-1B88-D2D5-C3CF-DC607AD4E338}"/>
              </a:ext>
            </a:extLst>
          </p:cNvPr>
          <p:cNvSpPr/>
          <p:nvPr/>
        </p:nvSpPr>
        <p:spPr>
          <a:xfrm>
            <a:off x="749807" y="2834640"/>
            <a:ext cx="16798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3,294억 원</a:t>
            </a:r>
            <a:endParaRPr lang="en-US" sz="27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A03B7198-C09C-C06A-EEF1-6FD9B838882E}"/>
              </a:ext>
            </a:extLst>
          </p:cNvPr>
          <p:cNvSpPr/>
          <p:nvPr/>
        </p:nvSpPr>
        <p:spPr>
          <a:xfrm>
            <a:off x="749808" y="3410712"/>
            <a:ext cx="15965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연금 반환일시금 미수령액(2023) · 휴면보험금 307.6억 · 반환율 30%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1D893D43-86E5-C06D-CF56-7EF57B91D9F6}"/>
              </a:ext>
            </a:extLst>
          </p:cNvPr>
          <p:cNvSpPr/>
          <p:nvPr/>
        </p:nvSpPr>
        <p:spPr>
          <a:xfrm>
            <a:off x="2821838" y="1417320"/>
            <a:ext cx="1998878" cy="3063240"/>
          </a:xfrm>
          <a:prstGeom prst="roundRect">
            <a:avLst>
              <a:gd name="adj" fmla="val 457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8E0A7444-5C57-98C9-2743-6F621DB8D2F6}"/>
              </a:ext>
            </a:extLst>
          </p:cNvPr>
          <p:cNvSpPr/>
          <p:nvPr/>
        </p:nvSpPr>
        <p:spPr>
          <a:xfrm>
            <a:off x="3023006" y="1655064"/>
            <a:ext cx="15965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고비용 송금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Shape 9">
            <a:extLst>
              <a:ext uri="{FF2B5EF4-FFF2-40B4-BE49-F238E27FC236}">
                <a16:creationId xmlns:a16="http://schemas.microsoft.com/office/drawing/2014/main" id="{21C3AF4A-C35E-88C0-8F83-126B29C52438}"/>
              </a:ext>
            </a:extLst>
          </p:cNvPr>
          <p:cNvSpPr/>
          <p:nvPr/>
        </p:nvSpPr>
        <p:spPr>
          <a:xfrm>
            <a:off x="3023006" y="2075688"/>
            <a:ext cx="566928" cy="566928"/>
          </a:xfrm>
          <a:prstGeom prst="ellipse">
            <a:avLst/>
          </a:prstGeom>
          <a:solidFill>
            <a:srgbClr val="E3E7F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A538A48D-3589-FCE7-5A6E-7D4B1882C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0166" y="2212848"/>
            <a:ext cx="292608" cy="292608"/>
          </a:xfrm>
          <a:prstGeom prst="rect">
            <a:avLst/>
          </a:prstGeom>
        </p:spPr>
      </p:pic>
      <p:sp>
        <p:nvSpPr>
          <p:cNvPr id="64" name="Text 10">
            <a:extLst>
              <a:ext uri="{FF2B5EF4-FFF2-40B4-BE49-F238E27FC236}">
                <a16:creationId xmlns:a16="http://schemas.microsoft.com/office/drawing/2014/main" id="{45043A64-8356-C7A7-BC72-41FDBEAC91FB}"/>
              </a:ext>
            </a:extLst>
          </p:cNvPr>
          <p:cNvSpPr/>
          <p:nvPr/>
        </p:nvSpPr>
        <p:spPr>
          <a:xfrm>
            <a:off x="3023006" y="2834640"/>
            <a:ext cx="1596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5.15%</a:t>
            </a:r>
            <a:endParaRPr lang="en-US" sz="27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504BB333-870D-AE9E-6C9F-F914B768EDCF}"/>
              </a:ext>
            </a:extLst>
          </p:cNvPr>
          <p:cNvSpPr/>
          <p:nvPr/>
        </p:nvSpPr>
        <p:spPr>
          <a:xfrm>
            <a:off x="3023006" y="3410712"/>
            <a:ext cx="15965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한국→베트남 200달러 송금 평균 총비용 · 환차손 · 환치기 노출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3A175E38-F0ED-E15B-4A9E-A2FE02611682}"/>
              </a:ext>
            </a:extLst>
          </p:cNvPr>
          <p:cNvSpPr/>
          <p:nvPr/>
        </p:nvSpPr>
        <p:spPr>
          <a:xfrm>
            <a:off x="5095037" y="1417320"/>
            <a:ext cx="1998878" cy="3063240"/>
          </a:xfrm>
          <a:prstGeom prst="roundRect">
            <a:avLst>
              <a:gd name="adj" fmla="val 457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6AE83383-E930-CE3F-7B1E-EE43DC2C025F}"/>
              </a:ext>
            </a:extLst>
          </p:cNvPr>
          <p:cNvSpPr/>
          <p:nvPr/>
        </p:nvSpPr>
        <p:spPr>
          <a:xfrm>
            <a:off x="5296205" y="1655064"/>
            <a:ext cx="15965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신용 배제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Shape 14">
            <a:extLst>
              <a:ext uri="{FF2B5EF4-FFF2-40B4-BE49-F238E27FC236}">
                <a16:creationId xmlns:a16="http://schemas.microsoft.com/office/drawing/2014/main" id="{9723A20B-32C7-E6E7-7828-0D4AAAEB5509}"/>
              </a:ext>
            </a:extLst>
          </p:cNvPr>
          <p:cNvSpPr/>
          <p:nvPr/>
        </p:nvSpPr>
        <p:spPr>
          <a:xfrm>
            <a:off x="5296205" y="2075688"/>
            <a:ext cx="566928" cy="566928"/>
          </a:xfrm>
          <a:prstGeom prst="ellipse">
            <a:avLst/>
          </a:prstGeom>
          <a:solidFill>
            <a:srgbClr val="E3E7F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28C6FA07-2D10-24CF-786F-9743D317CC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3365" y="2212848"/>
            <a:ext cx="292608" cy="292608"/>
          </a:xfrm>
          <a:prstGeom prst="rect">
            <a:avLst/>
          </a:prstGeom>
        </p:spPr>
      </p:pic>
      <p:sp>
        <p:nvSpPr>
          <p:cNvPr id="70" name="Text 15">
            <a:extLst>
              <a:ext uri="{FF2B5EF4-FFF2-40B4-BE49-F238E27FC236}">
                <a16:creationId xmlns:a16="http://schemas.microsoft.com/office/drawing/2014/main" id="{6578B5C0-D2C1-05DE-490C-C37E76213F18}"/>
              </a:ext>
            </a:extLst>
          </p:cNvPr>
          <p:cNvSpPr/>
          <p:nvPr/>
        </p:nvSpPr>
        <p:spPr>
          <a:xfrm>
            <a:off x="5296205" y="2834640"/>
            <a:ext cx="1596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225만 명</a:t>
            </a:r>
            <a:endParaRPr lang="en-US" sz="27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CD32367E-9CAC-C991-5E60-85810B9AC90D}"/>
              </a:ext>
            </a:extLst>
          </p:cNvPr>
          <p:cNvSpPr/>
          <p:nvPr/>
        </p:nvSpPr>
        <p:spPr>
          <a:xfrm>
            <a:off x="5296205" y="3410712"/>
            <a:ext cx="15965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Thin Filer · 신용 이력 부족으로 연 10~15% </a:t>
            </a: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고금리</a:t>
            </a: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대출 거절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Shape 17">
            <a:extLst>
              <a:ext uri="{FF2B5EF4-FFF2-40B4-BE49-F238E27FC236}">
                <a16:creationId xmlns:a16="http://schemas.microsoft.com/office/drawing/2014/main" id="{C9797A3F-F0DB-1108-3281-8C721DF697C2}"/>
              </a:ext>
            </a:extLst>
          </p:cNvPr>
          <p:cNvSpPr/>
          <p:nvPr/>
        </p:nvSpPr>
        <p:spPr>
          <a:xfrm>
            <a:off x="7368235" y="1417320"/>
            <a:ext cx="1998878" cy="3063240"/>
          </a:xfrm>
          <a:prstGeom prst="roundRect">
            <a:avLst>
              <a:gd name="adj" fmla="val 457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A8FA55DC-D277-0712-29D1-C4F51E51755D}"/>
              </a:ext>
            </a:extLst>
          </p:cNvPr>
          <p:cNvSpPr/>
          <p:nvPr/>
        </p:nvSpPr>
        <p:spPr>
          <a:xfrm>
            <a:off x="7569403" y="1655064"/>
            <a:ext cx="15965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서류 장벽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Shape 19">
            <a:extLst>
              <a:ext uri="{FF2B5EF4-FFF2-40B4-BE49-F238E27FC236}">
                <a16:creationId xmlns:a16="http://schemas.microsoft.com/office/drawing/2014/main" id="{9253B4BD-1D3D-66E9-FA4B-EC0B9EF3A8C6}"/>
              </a:ext>
            </a:extLst>
          </p:cNvPr>
          <p:cNvSpPr/>
          <p:nvPr/>
        </p:nvSpPr>
        <p:spPr>
          <a:xfrm>
            <a:off x="7569403" y="2075688"/>
            <a:ext cx="566928" cy="566928"/>
          </a:xfrm>
          <a:prstGeom prst="ellipse">
            <a:avLst/>
          </a:prstGeom>
          <a:solidFill>
            <a:srgbClr val="E3E7F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5" name="Image 3" descr="preencoded.png">
            <a:extLst>
              <a:ext uri="{FF2B5EF4-FFF2-40B4-BE49-F238E27FC236}">
                <a16:creationId xmlns:a16="http://schemas.microsoft.com/office/drawing/2014/main" id="{B61E9AC7-9C87-53D3-20AF-61464B911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6563" y="2212848"/>
            <a:ext cx="292608" cy="292608"/>
          </a:xfrm>
          <a:prstGeom prst="rect">
            <a:avLst/>
          </a:prstGeom>
        </p:spPr>
      </p:pic>
      <p:sp>
        <p:nvSpPr>
          <p:cNvPr id="76" name="Text 20">
            <a:extLst>
              <a:ext uri="{FF2B5EF4-FFF2-40B4-BE49-F238E27FC236}">
                <a16:creationId xmlns:a16="http://schemas.microsoft.com/office/drawing/2014/main" id="{580F6EA4-03CE-BEC8-F57E-4B0D89244DFB}"/>
              </a:ext>
            </a:extLst>
          </p:cNvPr>
          <p:cNvSpPr/>
          <p:nvPr/>
        </p:nvSpPr>
        <p:spPr>
          <a:xfrm>
            <a:off x="7569403" y="2834640"/>
            <a:ext cx="1596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1.5배</a:t>
            </a:r>
            <a:endParaRPr lang="en-US" sz="27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7" name="Text 21">
            <a:extLst>
              <a:ext uri="{FF2B5EF4-FFF2-40B4-BE49-F238E27FC236}">
                <a16:creationId xmlns:a16="http://schemas.microsoft.com/office/drawing/2014/main" id="{055326AF-DB20-4436-1622-D2506F4BD287}"/>
              </a:ext>
            </a:extLst>
          </p:cNvPr>
          <p:cNvSpPr/>
          <p:nvPr/>
        </p:nvSpPr>
        <p:spPr>
          <a:xfrm>
            <a:off x="7569403" y="3410712"/>
            <a:ext cx="15965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한국어 서식 실패·반려 ·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대출 연체율이 그룹 평균의 1.5배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Shape 22">
            <a:extLst>
              <a:ext uri="{FF2B5EF4-FFF2-40B4-BE49-F238E27FC236}">
                <a16:creationId xmlns:a16="http://schemas.microsoft.com/office/drawing/2014/main" id="{8763433B-B9EF-21E7-528C-2CA3CBB41650}"/>
              </a:ext>
            </a:extLst>
          </p:cNvPr>
          <p:cNvSpPr/>
          <p:nvPr/>
        </p:nvSpPr>
        <p:spPr>
          <a:xfrm>
            <a:off x="9641434" y="1417320"/>
            <a:ext cx="1998878" cy="3063240"/>
          </a:xfrm>
          <a:prstGeom prst="roundRect">
            <a:avLst>
              <a:gd name="adj" fmla="val 457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B522D7A9-6DDB-5BE9-E7BB-362C317DB2BD}"/>
              </a:ext>
            </a:extLst>
          </p:cNvPr>
          <p:cNvSpPr/>
          <p:nvPr/>
        </p:nvSpPr>
        <p:spPr>
          <a:xfrm>
            <a:off x="9842602" y="1655064"/>
            <a:ext cx="15965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FDS 이중 실패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EFD392B2-DE80-F4F3-724B-9EEAC44BCB5B}"/>
              </a:ext>
            </a:extLst>
          </p:cNvPr>
          <p:cNvSpPr/>
          <p:nvPr/>
        </p:nvSpPr>
        <p:spPr>
          <a:xfrm>
            <a:off x="9842602" y="2075688"/>
            <a:ext cx="566928" cy="566928"/>
          </a:xfrm>
          <a:prstGeom prst="ellipse">
            <a:avLst/>
          </a:prstGeom>
          <a:solidFill>
            <a:srgbClr val="E3E7F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1" name="Image 4" descr="preencoded.png">
            <a:extLst>
              <a:ext uri="{FF2B5EF4-FFF2-40B4-BE49-F238E27FC236}">
                <a16:creationId xmlns:a16="http://schemas.microsoft.com/office/drawing/2014/main" id="{F688A314-ED3D-2604-93D3-A9FF2BEF71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9762" y="2212848"/>
            <a:ext cx="292608" cy="292608"/>
          </a:xfrm>
          <a:prstGeom prst="rect">
            <a:avLst/>
          </a:prstGeom>
        </p:spPr>
      </p:pic>
      <p:sp>
        <p:nvSpPr>
          <p:cNvPr id="82" name="Text 25">
            <a:extLst>
              <a:ext uri="{FF2B5EF4-FFF2-40B4-BE49-F238E27FC236}">
                <a16:creationId xmlns:a16="http://schemas.microsoft.com/office/drawing/2014/main" id="{AD709512-C531-8C3A-9AFB-3C1106161DC0}"/>
              </a:ext>
            </a:extLst>
          </p:cNvPr>
          <p:cNvSpPr/>
          <p:nvPr/>
        </p:nvSpPr>
        <p:spPr>
          <a:xfrm>
            <a:off x="9842602" y="2834640"/>
            <a:ext cx="1596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64545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오탐</a:t>
            </a:r>
            <a:r>
              <a:rPr lang="en-US" sz="2200" b="1" dirty="0">
                <a:solidFill>
                  <a:srgbClr val="2B345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+</a:t>
            </a:r>
            <a:r>
              <a:rPr lang="en-US" sz="2200" b="1" dirty="0">
                <a:solidFill>
                  <a:srgbClr val="3A6EA5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미탐</a:t>
            </a:r>
            <a:endParaRPr lang="en-US" sz="2200" b="1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599E55BE-2824-BA27-2317-A5773967231A}"/>
              </a:ext>
            </a:extLst>
          </p:cNvPr>
          <p:cNvSpPr/>
          <p:nvPr/>
        </p:nvSpPr>
        <p:spPr>
          <a:xfrm>
            <a:off x="9842602" y="3410712"/>
            <a:ext cx="15965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정상 급여 </a:t>
            </a: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송금은</a:t>
            </a: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차단</a:t>
            </a: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오탐</a:t>
            </a: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출국기</a:t>
            </a: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계좌양도·모국어</a:t>
            </a:r>
            <a:r>
              <a:rPr lang="en-US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피싱</a:t>
            </a:r>
            <a:r>
              <a:rPr lang="en-US" altLang="ko-KR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sz="1050" dirty="0" err="1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미탐</a:t>
            </a:r>
            <a:r>
              <a:rPr lang="en-US" altLang="ko-KR" sz="105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Shape 27">
            <a:extLst>
              <a:ext uri="{FF2B5EF4-FFF2-40B4-BE49-F238E27FC236}">
                <a16:creationId xmlns:a16="http://schemas.microsoft.com/office/drawing/2014/main" id="{259E21D3-28DF-164A-33FE-34F9DB09CCA9}"/>
              </a:ext>
            </a:extLst>
          </p:cNvPr>
          <p:cNvSpPr/>
          <p:nvPr/>
        </p:nvSpPr>
        <p:spPr>
          <a:xfrm>
            <a:off x="548640" y="486460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 w="12700">
            <a:solidFill>
              <a:srgbClr val="C9D4E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 28">
            <a:extLst>
              <a:ext uri="{FF2B5EF4-FFF2-40B4-BE49-F238E27FC236}">
                <a16:creationId xmlns:a16="http://schemas.microsoft.com/office/drawing/2014/main" id="{7DF12200-2393-EBB9-E2E1-517C533A0777}"/>
              </a:ext>
            </a:extLst>
          </p:cNvPr>
          <p:cNvSpPr/>
          <p:nvPr/>
        </p:nvSpPr>
        <p:spPr>
          <a:xfrm>
            <a:off x="868680" y="50474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비어 있는 시장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6" name="Text 29">
            <a:extLst>
              <a:ext uri="{FF2B5EF4-FFF2-40B4-BE49-F238E27FC236}">
                <a16:creationId xmlns:a16="http://schemas.microsoft.com/office/drawing/2014/main" id="{D51FBADC-1792-E6A3-344F-EA5F75DB8D5E}"/>
              </a:ext>
            </a:extLst>
          </p:cNvPr>
          <p:cNvSpPr/>
          <p:nvPr/>
        </p:nvSpPr>
        <p:spPr>
          <a:xfrm>
            <a:off x="868680" y="5394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64.1</a:t>
            </a:r>
            <a:r>
              <a:rPr lang="en-US" sz="19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%p</a:t>
            </a:r>
            <a:r>
              <a:rPr lang="en-US" sz="1300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격차</a:t>
            </a:r>
            <a:endParaRPr lang="en-US" sz="3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Text 30">
            <a:extLst>
              <a:ext uri="{FF2B5EF4-FFF2-40B4-BE49-F238E27FC236}">
                <a16:creationId xmlns:a16="http://schemas.microsoft.com/office/drawing/2014/main" id="{FEDD451B-62E1-C49B-1A68-B217FA213F7F}"/>
              </a:ext>
            </a:extLst>
          </p:cNvPr>
          <p:cNvSpPr/>
          <p:nvPr/>
        </p:nvSpPr>
        <p:spPr>
          <a:xfrm>
            <a:off x="3657600" y="5138928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유학생 취업 희망 </a:t>
            </a:r>
            <a:r>
              <a:rPr lang="en-US" sz="15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86.5%</a:t>
            </a:r>
            <a:r>
              <a:rPr lang="en-US" sz="150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vs  실제 취업비자 전환율 </a:t>
            </a:r>
            <a:r>
              <a:rPr lang="en-US" sz="15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22.4%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격차는 곧, 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선점 가능한 미래 우량 고객층</a:t>
            </a:r>
            <a:r>
              <a:rPr lang="en-US" sz="1500" dirty="0">
                <a:solidFill>
                  <a:srgbClr val="47506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의미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03-A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제안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솔루션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개요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장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요약</a:t>
            </a:r>
            <a:endParaRPr sz="250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66" name="Shape 2">
            <a:extLst>
              <a:ext uri="{FF2B5EF4-FFF2-40B4-BE49-F238E27FC236}">
                <a16:creationId xmlns:a16="http://schemas.microsoft.com/office/drawing/2014/main" id="{CFDCD9BD-F043-2379-3D34-1B899B730C57}"/>
              </a:ext>
            </a:extLst>
          </p:cNvPr>
          <p:cNvSpPr/>
          <p:nvPr/>
        </p:nvSpPr>
        <p:spPr>
          <a:xfrm>
            <a:off x="548640" y="123444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4255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01B0F92B-B752-4039-A120-5DC362E5899E}"/>
              </a:ext>
            </a:extLst>
          </p:cNvPr>
          <p:cNvSpPr/>
          <p:nvPr/>
        </p:nvSpPr>
        <p:spPr>
          <a:xfrm>
            <a:off x="1005840" y="123444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외국인이 묻기 전에 금융 권리와 마감을 먼저 챙겨 주는 능동형 금융 AI 에이전트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720B1CD1-3EBD-D980-392F-206E98B5EFE9}"/>
              </a:ext>
            </a:extLst>
          </p:cNvPr>
          <p:cNvSpPr/>
          <p:nvPr/>
        </p:nvSpPr>
        <p:spPr>
          <a:xfrm>
            <a:off x="548640" y="2404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 가지 작동 원리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23DAE262-3B44-3B3F-0E13-BBFAE56C33B4}"/>
              </a:ext>
            </a:extLst>
          </p:cNvPr>
          <p:cNvSpPr/>
          <p:nvPr/>
        </p:nvSpPr>
        <p:spPr>
          <a:xfrm>
            <a:off x="548640" y="2825496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C303E934-2047-FA3D-10D6-0CCFCEEFA293}"/>
              </a:ext>
            </a:extLst>
          </p:cNvPr>
          <p:cNvSpPr/>
          <p:nvPr/>
        </p:nvSpPr>
        <p:spPr>
          <a:xfrm>
            <a:off x="548640" y="3081528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능동성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Shape 7">
            <a:extLst>
              <a:ext uri="{FF2B5EF4-FFF2-40B4-BE49-F238E27FC236}">
                <a16:creationId xmlns:a16="http://schemas.microsoft.com/office/drawing/2014/main" id="{200E3A24-1B8B-2EA7-F44A-79D2A5AFBF32}"/>
              </a:ext>
            </a:extLst>
          </p:cNvPr>
          <p:cNvSpPr/>
          <p:nvPr/>
        </p:nvSpPr>
        <p:spPr>
          <a:xfrm>
            <a:off x="1924812" y="3593592"/>
            <a:ext cx="731520" cy="0"/>
          </a:xfrm>
          <a:prstGeom prst="line">
            <a:avLst/>
          </a:prstGeom>
          <a:noFill/>
          <a:ln w="19050">
            <a:solidFill>
              <a:srgbClr val="C9D0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9710B1B9-CD24-EB86-253C-8B5949DD1A8B}"/>
              </a:ext>
            </a:extLst>
          </p:cNvPr>
          <p:cNvSpPr/>
          <p:nvPr/>
        </p:nvSpPr>
        <p:spPr>
          <a:xfrm>
            <a:off x="859536" y="372160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사용자가 묻기 전에 마감, 손실, 위험을 </a:t>
            </a:r>
            <a:r>
              <a:rPr lang="en-US" sz="125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먼저</a:t>
            </a:r>
            <a:r>
              <a:rPr lang="en-US" sz="125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감지해</a:t>
            </a:r>
            <a:r>
              <a:rPr lang="en-US" sz="125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알린다</a:t>
            </a:r>
            <a:endParaRPr lang="en-US" sz="12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B48EA3CD-3807-E58A-B8EB-5306B4E7B558}"/>
              </a:ext>
            </a:extLst>
          </p:cNvPr>
          <p:cNvSpPr/>
          <p:nvPr/>
        </p:nvSpPr>
        <p:spPr>
          <a:xfrm>
            <a:off x="4352544" y="2825496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7B68A20C-3AA8-D6CB-07B7-974B2EEB8267}"/>
              </a:ext>
            </a:extLst>
          </p:cNvPr>
          <p:cNvSpPr/>
          <p:nvPr/>
        </p:nvSpPr>
        <p:spPr>
          <a:xfrm>
            <a:off x="4352544" y="3081528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개인화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6DF147F9-6E31-41D3-1DBD-0A11B6FC3DCA}"/>
              </a:ext>
            </a:extLst>
          </p:cNvPr>
          <p:cNvSpPr/>
          <p:nvPr/>
        </p:nvSpPr>
        <p:spPr>
          <a:xfrm>
            <a:off x="5728716" y="3593592"/>
            <a:ext cx="731520" cy="0"/>
          </a:xfrm>
          <a:prstGeom prst="line">
            <a:avLst/>
          </a:prstGeom>
          <a:noFill/>
          <a:ln w="19050">
            <a:solidFill>
              <a:srgbClr val="C9D0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94C4F392-B6C0-D0CA-8066-715191188031}"/>
              </a:ext>
            </a:extLst>
          </p:cNvPr>
          <p:cNvSpPr/>
          <p:nvPr/>
        </p:nvSpPr>
        <p:spPr>
          <a:xfrm>
            <a:off x="4663440" y="372160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비자, 납부 월수, 출국일 등 내 숫자로 정밀하게 계산해 답한다</a:t>
            </a:r>
            <a:endParaRPr lang="en-US" sz="12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Shape 13">
            <a:extLst>
              <a:ext uri="{FF2B5EF4-FFF2-40B4-BE49-F238E27FC236}">
                <a16:creationId xmlns:a16="http://schemas.microsoft.com/office/drawing/2014/main" id="{C0400647-3246-BE8C-5C26-6285B2C12566}"/>
              </a:ext>
            </a:extLst>
          </p:cNvPr>
          <p:cNvSpPr/>
          <p:nvPr/>
        </p:nvSpPr>
        <p:spPr>
          <a:xfrm>
            <a:off x="8156448" y="2825496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47559277-461F-C957-C025-81114CE804C4}"/>
              </a:ext>
            </a:extLst>
          </p:cNvPr>
          <p:cNvSpPr/>
          <p:nvPr/>
        </p:nvSpPr>
        <p:spPr>
          <a:xfrm>
            <a:off x="8156448" y="3081528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대리처리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0CCA893D-A9BB-155C-0AA5-1DD01AC91897}"/>
              </a:ext>
            </a:extLst>
          </p:cNvPr>
          <p:cNvSpPr/>
          <p:nvPr/>
        </p:nvSpPr>
        <p:spPr>
          <a:xfrm>
            <a:off x="9532620" y="3593592"/>
            <a:ext cx="731520" cy="0"/>
          </a:xfrm>
          <a:prstGeom prst="line">
            <a:avLst/>
          </a:prstGeom>
          <a:noFill/>
          <a:ln w="19050">
            <a:solidFill>
              <a:srgbClr val="C9D0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DCC8FE6E-5A53-8CDD-554C-D5F5CB37EADE}"/>
              </a:ext>
            </a:extLst>
          </p:cNvPr>
          <p:cNvSpPr/>
          <p:nvPr/>
        </p:nvSpPr>
        <p:spPr>
          <a:xfrm>
            <a:off x="8467344" y="3721608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안내에 그치지 않고 신청서 작성까지 </a:t>
            </a:r>
            <a:r>
              <a:rPr lang="en-US" sz="125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대신</a:t>
            </a:r>
            <a:r>
              <a:rPr lang="en-US" sz="125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수행한다</a:t>
            </a:r>
            <a:endParaRPr lang="en-US" sz="12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12526064-3A95-70B9-B6EF-C039ACE6DC3D}"/>
              </a:ext>
            </a:extLst>
          </p:cNvPr>
          <p:cNvSpPr/>
          <p:nvPr/>
        </p:nvSpPr>
        <p:spPr>
          <a:xfrm>
            <a:off x="548640" y="47914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 부문 멀티 에이전트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2" name="Shape 18">
            <a:extLst>
              <a:ext uri="{FF2B5EF4-FFF2-40B4-BE49-F238E27FC236}">
                <a16:creationId xmlns:a16="http://schemas.microsoft.com/office/drawing/2014/main" id="{54BA140D-B70B-15CC-B429-0E22B91B626F}"/>
              </a:ext>
            </a:extLst>
          </p:cNvPr>
          <p:cNvSpPr/>
          <p:nvPr/>
        </p:nvSpPr>
        <p:spPr>
          <a:xfrm>
            <a:off x="548640" y="5212080"/>
            <a:ext cx="3483864" cy="868680"/>
          </a:xfrm>
          <a:prstGeom prst="roundRect">
            <a:avLst>
              <a:gd name="adj" fmla="val 10526"/>
            </a:avLst>
          </a:prstGeom>
          <a:solidFill>
            <a:srgbClr val="0295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7F309D13-235A-DCFC-C907-970C86B70A0B}"/>
              </a:ext>
            </a:extLst>
          </p:cNvPr>
          <p:cNvSpPr/>
          <p:nvPr/>
        </p:nvSpPr>
        <p:spPr>
          <a:xfrm>
            <a:off x="548640" y="5212080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자산관리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Shape 20">
            <a:extLst>
              <a:ext uri="{FF2B5EF4-FFF2-40B4-BE49-F238E27FC236}">
                <a16:creationId xmlns:a16="http://schemas.microsoft.com/office/drawing/2014/main" id="{21452DD2-2997-D1AB-0782-A161738308C9}"/>
              </a:ext>
            </a:extLst>
          </p:cNvPr>
          <p:cNvSpPr/>
          <p:nvPr/>
        </p:nvSpPr>
        <p:spPr>
          <a:xfrm>
            <a:off x="4352544" y="5212080"/>
            <a:ext cx="3483864" cy="868680"/>
          </a:xfrm>
          <a:prstGeom prst="roundRect">
            <a:avLst>
              <a:gd name="adj" fmla="val 10526"/>
            </a:avLst>
          </a:prstGeom>
          <a:solidFill>
            <a:srgbClr val="5E7A8C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ACC2C4AC-2FAB-6A3D-90FD-029D6550BEAD}"/>
              </a:ext>
            </a:extLst>
          </p:cNvPr>
          <p:cNvSpPr/>
          <p:nvPr/>
        </p:nvSpPr>
        <p:spPr>
          <a:xfrm>
            <a:off x="4352544" y="5212080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서류행정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6" name="Shape 22">
            <a:extLst>
              <a:ext uri="{FF2B5EF4-FFF2-40B4-BE49-F238E27FC236}">
                <a16:creationId xmlns:a16="http://schemas.microsoft.com/office/drawing/2014/main" id="{8C2A6C81-6EC5-6F87-C3DC-4BF1744B72C5}"/>
              </a:ext>
            </a:extLst>
          </p:cNvPr>
          <p:cNvSpPr/>
          <p:nvPr/>
        </p:nvSpPr>
        <p:spPr>
          <a:xfrm>
            <a:off x="8156448" y="5212080"/>
            <a:ext cx="3483864" cy="868680"/>
          </a:xfrm>
          <a:prstGeom prst="roundRect">
            <a:avLst>
              <a:gd name="adj" fmla="val 10526"/>
            </a:avLst>
          </a:prstGeom>
          <a:solidFill>
            <a:srgbClr val="E1793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C5A9407E-5949-0FAC-13A7-32C2BB0733A5}"/>
              </a:ext>
            </a:extLst>
          </p:cNvPr>
          <p:cNvSpPr/>
          <p:nvPr/>
        </p:nvSpPr>
        <p:spPr>
          <a:xfrm>
            <a:off x="8156448" y="5212080"/>
            <a:ext cx="3483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사기탐지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03-B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제안 솔루션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개요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BD90C960-5D49-790D-1F17-C53486A04D9D}"/>
              </a:ext>
            </a:extLst>
          </p:cNvPr>
          <p:cNvSpPr/>
          <p:nvPr/>
        </p:nvSpPr>
        <p:spPr>
          <a:xfrm>
            <a:off x="548640" y="1572768"/>
            <a:ext cx="3319272" cy="566928"/>
          </a:xfrm>
          <a:prstGeom prst="roundRect">
            <a:avLst>
              <a:gd name="adj" fmla="val 12903"/>
            </a:avLst>
          </a:prstGeom>
          <a:solidFill>
            <a:srgbClr val="26336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DBF3DCD-0B76-0DBA-D4BB-DD541B80DE35}"/>
              </a:ext>
            </a:extLst>
          </p:cNvPr>
          <p:cNvSpPr/>
          <p:nvPr/>
        </p:nvSpPr>
        <p:spPr>
          <a:xfrm>
            <a:off x="548640" y="157276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 </a:t>
            </a: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0A901BB1-F3C6-8921-9BBD-FA974C039C5E}"/>
              </a:ext>
            </a:extLst>
          </p:cNvPr>
          <p:cNvSpPr/>
          <p:nvPr/>
        </p:nvSpPr>
        <p:spPr>
          <a:xfrm>
            <a:off x="548640" y="2304288"/>
            <a:ext cx="3319272" cy="3200400"/>
          </a:xfrm>
          <a:prstGeom prst="roundRect">
            <a:avLst>
              <a:gd name="adj" fmla="val 2857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EE5BABCA-2E52-92FF-03F9-BD73E58EA3FA}"/>
              </a:ext>
            </a:extLst>
          </p:cNvPr>
          <p:cNvSpPr/>
          <p:nvPr/>
        </p:nvSpPr>
        <p:spPr>
          <a:xfrm>
            <a:off x="822960" y="257860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LLM이 질문하고, 페르소나를 </a:t>
            </a: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해석해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호출할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도구와 순서를 결정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D3EE8AAA-F91B-0B54-30B1-546098055254}"/>
              </a:ext>
            </a:extLst>
          </p:cNvPr>
          <p:cNvSpPr/>
          <p:nvPr/>
        </p:nvSpPr>
        <p:spPr>
          <a:xfrm>
            <a:off x="822960" y="324154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DADF412-2DA5-5E03-2638-DA2921FAB499}"/>
              </a:ext>
            </a:extLst>
          </p:cNvPr>
          <p:cNvSpPr/>
          <p:nvPr/>
        </p:nvSpPr>
        <p:spPr>
          <a:xfrm>
            <a:off x="822960" y="324154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Rule Engine – 전세가율 80% </a:t>
            </a: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법령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상수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+ 6대 사기 룰 판단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97333120-14B7-F265-6E69-381425503619}"/>
              </a:ext>
            </a:extLst>
          </p:cNvPr>
          <p:cNvSpPr/>
          <p:nvPr/>
        </p:nvSpPr>
        <p:spPr>
          <a:xfrm>
            <a:off x="822960" y="390448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3109CCE2-D84E-FD21-244D-2D2A2254FDDF}"/>
              </a:ext>
            </a:extLst>
          </p:cNvPr>
          <p:cNvSpPr/>
          <p:nvPr/>
        </p:nvSpPr>
        <p:spPr>
          <a:xfrm>
            <a:off x="822960" y="390448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Isolation Forest – 국적×비자 </a:t>
            </a: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그룹별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이상치를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점수화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878DDB6F-6056-47A8-AE1B-726B0D3CA6E8}"/>
              </a:ext>
            </a:extLst>
          </p:cNvPr>
          <p:cNvSpPr/>
          <p:nvPr/>
        </p:nvSpPr>
        <p:spPr>
          <a:xfrm>
            <a:off x="822960" y="456742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316C3FF5-8CA1-1F3A-73C7-CCB56ED09D13}"/>
              </a:ext>
            </a:extLst>
          </p:cNvPr>
          <p:cNvSpPr/>
          <p:nvPr/>
        </p:nvSpPr>
        <p:spPr>
          <a:xfrm>
            <a:off x="822960" y="456742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D-Day 엔진 – 마감 임박도로 </a:t>
            </a: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우선순위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산출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8230053F-51EF-A80D-7BF3-057F8AC99B07}"/>
              </a:ext>
            </a:extLst>
          </p:cNvPr>
          <p:cNvSpPr/>
          <p:nvPr/>
        </p:nvSpPr>
        <p:spPr>
          <a:xfrm>
            <a:off x="4434840" y="1572768"/>
            <a:ext cx="3319272" cy="566928"/>
          </a:xfrm>
          <a:prstGeom prst="roundRect">
            <a:avLst>
              <a:gd name="adj" fmla="val 12903"/>
            </a:avLst>
          </a:prstGeom>
          <a:solidFill>
            <a:srgbClr val="26336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1AECFD9F-4B5B-D7F7-4546-5DE7A0EA443E}"/>
              </a:ext>
            </a:extLst>
          </p:cNvPr>
          <p:cNvSpPr/>
          <p:nvPr/>
        </p:nvSpPr>
        <p:spPr>
          <a:xfrm>
            <a:off x="4434840" y="157276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 </a:t>
            </a: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행동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74FA968A-127B-7415-8A31-CB65B0834E13}"/>
              </a:ext>
            </a:extLst>
          </p:cNvPr>
          <p:cNvSpPr/>
          <p:nvPr/>
        </p:nvSpPr>
        <p:spPr>
          <a:xfrm>
            <a:off x="4434840" y="2304288"/>
            <a:ext cx="3319272" cy="3200400"/>
          </a:xfrm>
          <a:prstGeom prst="roundRect">
            <a:avLst>
              <a:gd name="adj" fmla="val 2857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40A71AC7-31CD-0E6B-793E-F77DE1D63D7B}"/>
              </a:ext>
            </a:extLst>
          </p:cNvPr>
          <p:cNvSpPr/>
          <p:nvPr/>
        </p:nvSpPr>
        <p:spPr>
          <a:xfrm>
            <a:off x="4709160" y="257860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도구 연쇄 호출로 근거 수치 조회·재해석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D0444930-0129-4024-922C-9A5F945F7332}"/>
              </a:ext>
            </a:extLst>
          </p:cNvPr>
          <p:cNvSpPr/>
          <p:nvPr/>
        </p:nvSpPr>
        <p:spPr>
          <a:xfrm>
            <a:off x="4709160" y="324154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ADE2F2A3-B66B-8932-B3B7-A6D51C710C0B}"/>
              </a:ext>
            </a:extLst>
          </p:cNvPr>
          <p:cNvSpPr/>
          <p:nvPr/>
        </p:nvSpPr>
        <p:spPr>
          <a:xfrm>
            <a:off x="4709160" y="324154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마감·절감·위험 알림 카드 푸시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A341B2BB-EDFD-26BC-F43C-9CD9886FEA66}"/>
              </a:ext>
            </a:extLst>
          </p:cNvPr>
          <p:cNvSpPr/>
          <p:nvPr/>
        </p:nvSpPr>
        <p:spPr>
          <a:xfrm>
            <a:off x="4709160" y="390448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C2015E35-C784-BC96-2F19-F4B642D3C0B0}"/>
              </a:ext>
            </a:extLst>
          </p:cNvPr>
          <p:cNvSpPr/>
          <p:nvPr/>
        </p:nvSpPr>
        <p:spPr>
          <a:xfrm>
            <a:off x="4709160" y="390448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송금 경로 수정안 제시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E9581B76-DE0E-1FC5-AA39-2F54777A5541}"/>
              </a:ext>
            </a:extLst>
          </p:cNvPr>
          <p:cNvSpPr/>
          <p:nvPr/>
        </p:nvSpPr>
        <p:spPr>
          <a:xfrm>
            <a:off x="4709160" y="456742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6CD2FF53-82BA-2C23-F451-03F59F38F0DC}"/>
              </a:ext>
            </a:extLst>
          </p:cNvPr>
          <p:cNvSpPr/>
          <p:nvPr/>
        </p:nvSpPr>
        <p:spPr>
          <a:xfrm>
            <a:off x="4709160" y="456742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정부 신청서 PDF 자동작성, 모국어 본인확인 발송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8F1C597D-95C8-FBEE-7BC8-0005A4898EDB}"/>
              </a:ext>
            </a:extLst>
          </p:cNvPr>
          <p:cNvSpPr/>
          <p:nvPr/>
        </p:nvSpPr>
        <p:spPr>
          <a:xfrm>
            <a:off x="8321040" y="1572768"/>
            <a:ext cx="3319272" cy="566928"/>
          </a:xfrm>
          <a:prstGeom prst="roundRect">
            <a:avLst>
              <a:gd name="adj" fmla="val 12903"/>
            </a:avLst>
          </a:prstGeom>
          <a:solidFill>
            <a:srgbClr val="26336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DFFBDE57-1018-B6CC-505D-BA174DF451D4}"/>
              </a:ext>
            </a:extLst>
          </p:cNvPr>
          <p:cNvSpPr/>
          <p:nvPr/>
        </p:nvSpPr>
        <p:spPr>
          <a:xfrm>
            <a:off x="8321040" y="157276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  </a:t>
            </a: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 및 개선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Shape 24">
            <a:extLst>
              <a:ext uri="{FF2B5EF4-FFF2-40B4-BE49-F238E27FC236}">
                <a16:creationId xmlns:a16="http://schemas.microsoft.com/office/drawing/2014/main" id="{6C3EDD64-57A5-A1DA-67ED-32271E10B109}"/>
              </a:ext>
            </a:extLst>
          </p:cNvPr>
          <p:cNvSpPr/>
          <p:nvPr/>
        </p:nvSpPr>
        <p:spPr>
          <a:xfrm>
            <a:off x="8321040" y="2304288"/>
            <a:ext cx="3319272" cy="3200400"/>
          </a:xfrm>
          <a:prstGeom prst="roundRect">
            <a:avLst>
              <a:gd name="adj" fmla="val 2857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F5669DE9-5DE9-F811-0A50-92C07CBDCC61}"/>
              </a:ext>
            </a:extLst>
          </p:cNvPr>
          <p:cNvSpPr/>
          <p:nvPr/>
        </p:nvSpPr>
        <p:spPr>
          <a:xfrm>
            <a:off x="8595360" y="257860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루프 종료 조건(stop_reason), 실패 시 재시도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AE72BB25-340A-DDED-8033-BA84114EE571}"/>
              </a:ext>
            </a:extLst>
          </p:cNvPr>
          <p:cNvSpPr/>
          <p:nvPr/>
        </p:nvSpPr>
        <p:spPr>
          <a:xfrm>
            <a:off x="8595360" y="324154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B6430425-BFF0-3996-223E-99B81DB78BE6}"/>
              </a:ext>
            </a:extLst>
          </p:cNvPr>
          <p:cNvSpPr/>
          <p:nvPr/>
        </p:nvSpPr>
        <p:spPr>
          <a:xfrm>
            <a:off x="8595360" y="324154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OCR 신뢰도 0.85 미만 → 수동검토(Human-in-the-loop)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Shape 28">
            <a:extLst>
              <a:ext uri="{FF2B5EF4-FFF2-40B4-BE49-F238E27FC236}">
                <a16:creationId xmlns:a16="http://schemas.microsoft.com/office/drawing/2014/main" id="{02D0F728-473A-4652-462A-3A2607B87C94}"/>
              </a:ext>
            </a:extLst>
          </p:cNvPr>
          <p:cNvSpPr/>
          <p:nvPr/>
        </p:nvSpPr>
        <p:spPr>
          <a:xfrm>
            <a:off x="8595360" y="390448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B3E850B9-2D90-CA7E-7E6C-C5122A0B0387}"/>
              </a:ext>
            </a:extLst>
          </p:cNvPr>
          <p:cNvSpPr/>
          <p:nvPr/>
        </p:nvSpPr>
        <p:spPr>
          <a:xfrm>
            <a:off x="8595360" y="390448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구조화 JSON 2차 정합성 검증(Self-Correction)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16DA3A77-437A-E706-95C3-14CE31F8807C}"/>
              </a:ext>
            </a:extLst>
          </p:cNvPr>
          <p:cNvSpPr/>
          <p:nvPr/>
        </p:nvSpPr>
        <p:spPr>
          <a:xfrm>
            <a:off x="8595360" y="4567428"/>
            <a:ext cx="2770632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11E52E9C-9D01-9DBF-9887-A6D7E918D1BF}"/>
              </a:ext>
            </a:extLst>
          </p:cNvPr>
          <p:cNvSpPr/>
          <p:nvPr/>
        </p:nvSpPr>
        <p:spPr>
          <a:xfrm>
            <a:off x="8595360" y="4567428"/>
            <a:ext cx="27706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2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 가드레일 테스트 자동 검사, 큰 결정은 본인 승인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32">
            <a:extLst>
              <a:ext uri="{FF2B5EF4-FFF2-40B4-BE49-F238E27FC236}">
                <a16:creationId xmlns:a16="http://schemas.microsoft.com/office/drawing/2014/main" id="{4CBD510C-471D-999C-4EDF-B0D65ED97DD2}"/>
              </a:ext>
            </a:extLst>
          </p:cNvPr>
          <p:cNvSpPr/>
          <p:nvPr/>
        </p:nvSpPr>
        <p:spPr>
          <a:xfrm>
            <a:off x="3922776" y="35844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AA3B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33">
            <a:extLst>
              <a:ext uri="{FF2B5EF4-FFF2-40B4-BE49-F238E27FC236}">
                <a16:creationId xmlns:a16="http://schemas.microsoft.com/office/drawing/2014/main" id="{AB2FFCF6-7576-EB1B-269D-36C090B27BA0}"/>
              </a:ext>
            </a:extLst>
          </p:cNvPr>
          <p:cNvSpPr/>
          <p:nvPr/>
        </p:nvSpPr>
        <p:spPr>
          <a:xfrm>
            <a:off x="7808976" y="35844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AA3B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Shape 34">
            <a:extLst>
              <a:ext uri="{FF2B5EF4-FFF2-40B4-BE49-F238E27FC236}">
                <a16:creationId xmlns:a16="http://schemas.microsoft.com/office/drawing/2014/main" id="{4AA0B744-0CFA-F017-1DDE-1AF692F1162E}"/>
              </a:ext>
            </a:extLst>
          </p:cNvPr>
          <p:cNvSpPr/>
          <p:nvPr/>
        </p:nvSpPr>
        <p:spPr>
          <a:xfrm>
            <a:off x="548640" y="5705856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EEF2FB"/>
          </a:solidFill>
          <a:ln w="12700">
            <a:solidFill>
              <a:srgbClr val="C9D4E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89509475-1ED8-5195-306C-F6F491AB628D}"/>
              </a:ext>
            </a:extLst>
          </p:cNvPr>
          <p:cNvSpPr/>
          <p:nvPr/>
        </p:nvSpPr>
        <p:spPr>
          <a:xfrm>
            <a:off x="914400" y="5705856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↻  </a:t>
            </a:r>
            <a:r>
              <a:rPr lang="en-US" sz="15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 → 행동 → 검증·개선</a:t>
            </a:r>
            <a:r>
              <a:rPr lang="en-US" sz="15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단발이 아니라 </a:t>
            </a:r>
            <a:r>
              <a:rPr lang="en-US" sz="1500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멀티턴 루프</a:t>
            </a:r>
            <a:r>
              <a:rPr lang="en-US" sz="15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순환한다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03-C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제안 솔루션 개요 -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7" name="Picture 2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61" name="Shape 2">
            <a:extLst>
              <a:ext uri="{FF2B5EF4-FFF2-40B4-BE49-F238E27FC236}">
                <a16:creationId xmlns:a16="http://schemas.microsoft.com/office/drawing/2014/main" id="{B5431171-17C9-8B9C-CA0E-FE82031B52AB}"/>
              </a:ext>
            </a:extLst>
          </p:cNvPr>
          <p:cNvSpPr/>
          <p:nvPr/>
        </p:nvSpPr>
        <p:spPr>
          <a:xfrm>
            <a:off x="3076956" y="1325880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122D5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00042231-EA6C-DA98-B407-461914DCBE9E}"/>
              </a:ext>
            </a:extLst>
          </p:cNvPr>
          <p:cNvSpPr/>
          <p:nvPr/>
        </p:nvSpPr>
        <p:spPr>
          <a:xfrm>
            <a:off x="3076956" y="13258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입력 (다국어)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64614E10-B7AB-A0B9-E3C3-9E1ACCF6664F}"/>
              </a:ext>
            </a:extLst>
          </p:cNvPr>
          <p:cNvSpPr/>
          <p:nvPr/>
        </p:nvSpPr>
        <p:spPr>
          <a:xfrm>
            <a:off x="3076956" y="2331720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1B395C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356395BC-ADD9-C3A3-993C-DA3E48777851}"/>
              </a:ext>
            </a:extLst>
          </p:cNvPr>
          <p:cNvSpPr/>
          <p:nvPr/>
        </p:nvSpPr>
        <p:spPr>
          <a:xfrm>
            <a:off x="3076956" y="23317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공용 Streamlit UI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5F16E7EF-DB73-C60D-5E5C-5B34B187F212}"/>
              </a:ext>
            </a:extLst>
          </p:cNvPr>
          <p:cNvSpPr/>
          <p:nvPr/>
        </p:nvSpPr>
        <p:spPr>
          <a:xfrm>
            <a:off x="3076956" y="333756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294F6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BCB48F4C-40C0-8446-C3BD-46717BCBEC65}"/>
              </a:ext>
            </a:extLst>
          </p:cNvPr>
          <p:cNvSpPr/>
          <p:nvPr/>
        </p:nvSpPr>
        <p:spPr>
          <a:xfrm>
            <a:off x="3076956" y="333756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 오케스트레이터, tool use 멀티턴 루프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7D0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 → 도구 호출 → 결과 재주입 → 재판단 → 종료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4BC84D83-CE9B-F59C-1C9B-3AC166EADE74}"/>
              </a:ext>
            </a:extLst>
          </p:cNvPr>
          <p:cNvSpPr/>
          <p:nvPr/>
        </p:nvSpPr>
        <p:spPr>
          <a:xfrm>
            <a:off x="6094476" y="2002536"/>
            <a:ext cx="0" cy="310896"/>
          </a:xfrm>
          <a:prstGeom prst="line">
            <a:avLst/>
          </a:prstGeom>
          <a:noFill/>
          <a:ln w="31750">
            <a:solidFill>
              <a:srgbClr val="2B3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Shape 9">
            <a:extLst>
              <a:ext uri="{FF2B5EF4-FFF2-40B4-BE49-F238E27FC236}">
                <a16:creationId xmlns:a16="http://schemas.microsoft.com/office/drawing/2014/main" id="{F3E08D23-F6EB-1DDD-1925-482AE50030A7}"/>
              </a:ext>
            </a:extLst>
          </p:cNvPr>
          <p:cNvSpPr/>
          <p:nvPr/>
        </p:nvSpPr>
        <p:spPr>
          <a:xfrm>
            <a:off x="6094476" y="3008376"/>
            <a:ext cx="0" cy="310896"/>
          </a:xfrm>
          <a:prstGeom prst="line">
            <a:avLst/>
          </a:prstGeom>
          <a:noFill/>
          <a:ln w="31750">
            <a:solidFill>
              <a:srgbClr val="2B3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Shape 10">
            <a:extLst>
              <a:ext uri="{FF2B5EF4-FFF2-40B4-BE49-F238E27FC236}">
                <a16:creationId xmlns:a16="http://schemas.microsoft.com/office/drawing/2014/main" id="{188F8911-BBC8-08B4-5612-A47E350564ED}"/>
              </a:ext>
            </a:extLst>
          </p:cNvPr>
          <p:cNvSpPr/>
          <p:nvPr/>
        </p:nvSpPr>
        <p:spPr>
          <a:xfrm>
            <a:off x="6094476" y="4197096"/>
            <a:ext cx="0" cy="347472"/>
          </a:xfrm>
          <a:prstGeom prst="line">
            <a:avLst/>
          </a:prstGeom>
          <a:noFill/>
          <a:ln w="31750">
            <a:solidFill>
              <a:srgbClr val="2B3A6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BC663BBA-A957-8A2D-3A59-A1877EB0BE60}"/>
              </a:ext>
            </a:extLst>
          </p:cNvPr>
          <p:cNvSpPr/>
          <p:nvPr/>
        </p:nvSpPr>
        <p:spPr>
          <a:xfrm>
            <a:off x="2275332" y="4544568"/>
            <a:ext cx="7638288" cy="0"/>
          </a:xfrm>
          <a:prstGeom prst="line">
            <a:avLst/>
          </a:prstGeom>
          <a:noFill/>
          <a:ln w="31750">
            <a:solidFill>
              <a:srgbClr val="2B3A6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Shape 12">
            <a:extLst>
              <a:ext uri="{FF2B5EF4-FFF2-40B4-BE49-F238E27FC236}">
                <a16:creationId xmlns:a16="http://schemas.microsoft.com/office/drawing/2014/main" id="{33D57F60-45E1-7014-8977-AA05AFC0E993}"/>
              </a:ext>
            </a:extLst>
          </p:cNvPr>
          <p:cNvSpPr/>
          <p:nvPr/>
        </p:nvSpPr>
        <p:spPr>
          <a:xfrm>
            <a:off x="2275332" y="4544568"/>
            <a:ext cx="0" cy="512064"/>
          </a:xfrm>
          <a:prstGeom prst="line">
            <a:avLst/>
          </a:prstGeom>
          <a:noFill/>
          <a:ln w="31750">
            <a:solidFill>
              <a:srgbClr val="2B3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Shape 13">
            <a:extLst>
              <a:ext uri="{FF2B5EF4-FFF2-40B4-BE49-F238E27FC236}">
                <a16:creationId xmlns:a16="http://schemas.microsoft.com/office/drawing/2014/main" id="{744D8211-6035-8DE4-22AC-AC388A1D50EE}"/>
              </a:ext>
            </a:extLst>
          </p:cNvPr>
          <p:cNvSpPr/>
          <p:nvPr/>
        </p:nvSpPr>
        <p:spPr>
          <a:xfrm>
            <a:off x="6094476" y="4544568"/>
            <a:ext cx="0" cy="512064"/>
          </a:xfrm>
          <a:prstGeom prst="line">
            <a:avLst/>
          </a:prstGeom>
          <a:noFill/>
          <a:ln w="31750">
            <a:solidFill>
              <a:srgbClr val="2B3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Shape 14">
            <a:extLst>
              <a:ext uri="{FF2B5EF4-FFF2-40B4-BE49-F238E27FC236}">
                <a16:creationId xmlns:a16="http://schemas.microsoft.com/office/drawing/2014/main" id="{07E9C655-0DE2-CBF9-AB2D-8ED33ACD2A48}"/>
              </a:ext>
            </a:extLst>
          </p:cNvPr>
          <p:cNvSpPr/>
          <p:nvPr/>
        </p:nvSpPr>
        <p:spPr>
          <a:xfrm>
            <a:off x="9913620" y="4544568"/>
            <a:ext cx="0" cy="512064"/>
          </a:xfrm>
          <a:prstGeom prst="line">
            <a:avLst/>
          </a:prstGeom>
          <a:noFill/>
          <a:ln w="31750">
            <a:solidFill>
              <a:srgbClr val="2B3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E3D92664-DDA6-17AF-66E3-CD19B00FE25B}"/>
              </a:ext>
            </a:extLst>
          </p:cNvPr>
          <p:cNvSpPr/>
          <p:nvPr/>
        </p:nvSpPr>
        <p:spPr>
          <a:xfrm>
            <a:off x="548640" y="5074920"/>
            <a:ext cx="3453384" cy="960120"/>
          </a:xfrm>
          <a:prstGeom prst="roundRect">
            <a:avLst>
              <a:gd name="adj" fmla="val 7619"/>
            </a:avLst>
          </a:prstGeom>
          <a:solidFill>
            <a:srgbClr val="0295A8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A32D45EF-ACAF-CD69-278A-8A9534C337DE}"/>
              </a:ext>
            </a:extLst>
          </p:cNvPr>
          <p:cNvSpPr/>
          <p:nvPr/>
        </p:nvSpPr>
        <p:spPr>
          <a:xfrm>
            <a:off x="548640" y="5074920"/>
            <a:ext cx="3453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자산관리 (asset)</a:t>
            </a:r>
            <a:endParaRPr lang="en-US" sz="1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Shape 17">
            <a:extLst>
              <a:ext uri="{FF2B5EF4-FFF2-40B4-BE49-F238E27FC236}">
                <a16:creationId xmlns:a16="http://schemas.microsoft.com/office/drawing/2014/main" id="{4ACBE9BE-E14F-500D-50DF-65CD931D4F1C}"/>
              </a:ext>
            </a:extLst>
          </p:cNvPr>
          <p:cNvSpPr/>
          <p:nvPr/>
        </p:nvSpPr>
        <p:spPr>
          <a:xfrm>
            <a:off x="4367784" y="5074920"/>
            <a:ext cx="3453384" cy="960120"/>
          </a:xfrm>
          <a:prstGeom prst="roundRect">
            <a:avLst>
              <a:gd name="adj" fmla="val 7619"/>
            </a:avLst>
          </a:prstGeom>
          <a:solidFill>
            <a:srgbClr val="5E7A8C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28006499-887D-B938-9057-CE94E55D077D}"/>
              </a:ext>
            </a:extLst>
          </p:cNvPr>
          <p:cNvSpPr/>
          <p:nvPr/>
        </p:nvSpPr>
        <p:spPr>
          <a:xfrm>
            <a:off x="4367784" y="5074920"/>
            <a:ext cx="3453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서류행정 (docs)</a:t>
            </a:r>
            <a:endParaRPr lang="en-US" sz="1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3E10B4EF-D520-F93B-C767-4299A70AC3C7}"/>
              </a:ext>
            </a:extLst>
          </p:cNvPr>
          <p:cNvSpPr/>
          <p:nvPr/>
        </p:nvSpPr>
        <p:spPr>
          <a:xfrm>
            <a:off x="8186928" y="5074920"/>
            <a:ext cx="3453384" cy="960120"/>
          </a:xfrm>
          <a:prstGeom prst="roundRect">
            <a:avLst>
              <a:gd name="adj" fmla="val 7619"/>
            </a:avLst>
          </a:prstGeom>
          <a:solidFill>
            <a:srgbClr val="E1793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altLang="ko-KR" sz="17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사기탐지</a:t>
            </a:r>
            <a:r>
              <a:rPr lang="en-US" altLang="ko-KR" sz="1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(fraud)</a:t>
            </a:r>
            <a:endParaRPr lang="en-US" altLang="ko-KR" sz="1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03-D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제안 솔루션 개요 - 에이전트 작동 방식</a:t>
            </a:r>
            <a:endParaRPr sz="250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38" name="Picture 37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42D0FF44-CD5D-9D12-4DF0-621ACD1286E6}"/>
              </a:ext>
            </a:extLst>
          </p:cNvPr>
          <p:cNvSpPr/>
          <p:nvPr/>
        </p:nvSpPr>
        <p:spPr>
          <a:xfrm>
            <a:off x="548640" y="1325880"/>
            <a:ext cx="3502152" cy="841248"/>
          </a:xfrm>
          <a:prstGeom prst="roundRect">
            <a:avLst>
              <a:gd name="adj" fmla="val 9783"/>
            </a:avLst>
          </a:prstGeom>
          <a:solidFill>
            <a:srgbClr val="26336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B51D3965-039D-D216-3224-E7DA30B14F56}"/>
              </a:ext>
            </a:extLst>
          </p:cNvPr>
          <p:cNvSpPr/>
          <p:nvPr/>
        </p:nvSpPr>
        <p:spPr>
          <a:xfrm>
            <a:off x="786384" y="1508760"/>
            <a:ext cx="475488" cy="475488"/>
          </a:xfrm>
          <a:prstGeom prst="ellipse">
            <a:avLst/>
          </a:prstGeom>
          <a:solidFill>
            <a:srgbClr val="2E6FB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866C6CF5-E36F-295E-BEC9-BE6250957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36776"/>
            <a:ext cx="219456" cy="219456"/>
          </a:xfrm>
          <a:prstGeom prst="rect">
            <a:avLst/>
          </a:prstGeom>
        </p:spPr>
      </p:pic>
      <p:sp>
        <p:nvSpPr>
          <p:cNvPr id="41" name="Text 4">
            <a:extLst>
              <a:ext uri="{FF2B5EF4-FFF2-40B4-BE49-F238E27FC236}">
                <a16:creationId xmlns:a16="http://schemas.microsoft.com/office/drawing/2014/main" id="{49810930-78D2-ED76-D9A5-8A9420EE4EC3}"/>
              </a:ext>
            </a:extLst>
          </p:cNvPr>
          <p:cNvSpPr/>
          <p:nvPr/>
        </p:nvSpPr>
        <p:spPr>
          <a:xfrm>
            <a:off x="1371600" y="1325880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대화 모드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0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요청 기반 (Reactive)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0DCACBC6-7A9D-A3F5-EAC2-6C25DEED58D4}"/>
              </a:ext>
            </a:extLst>
          </p:cNvPr>
          <p:cNvSpPr/>
          <p:nvPr/>
        </p:nvSpPr>
        <p:spPr>
          <a:xfrm>
            <a:off x="548640" y="2295144"/>
            <a:ext cx="3502152" cy="3191256"/>
          </a:xfrm>
          <a:prstGeom prst="roundRect">
            <a:avLst>
              <a:gd name="adj" fmla="val 286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99702603-D207-B0E7-A916-E614C2D8BF9B}"/>
              </a:ext>
            </a:extLst>
          </p:cNvPr>
          <p:cNvSpPr/>
          <p:nvPr/>
        </p:nvSpPr>
        <p:spPr>
          <a:xfrm>
            <a:off x="804672" y="247802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고객이 물어보면 — 판단하고 행동</a:t>
            </a:r>
            <a:endParaRPr lang="en-US" sz="11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A8BAF750-7724-8AFA-B9E2-6BF00E77C9EA}"/>
              </a:ext>
            </a:extLst>
          </p:cNvPr>
          <p:cNvSpPr/>
          <p:nvPr/>
        </p:nvSpPr>
        <p:spPr>
          <a:xfrm>
            <a:off x="804672" y="3044952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질문 입력(페르소나 컨텍스트)</a:t>
            </a: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B71CAB2E-1F57-6D18-EA59-7BEB51B25037}"/>
              </a:ext>
            </a:extLst>
          </p:cNvPr>
          <p:cNvSpPr/>
          <p:nvPr/>
        </p:nvSpPr>
        <p:spPr>
          <a:xfrm>
            <a:off x="804672" y="3500323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LLM이 호출할 도구·순서 판단</a:t>
            </a:r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07689677-5BB3-548F-1B7B-0848131C40EA}"/>
              </a:ext>
            </a:extLst>
          </p:cNvPr>
          <p:cNvSpPr/>
          <p:nvPr/>
        </p:nvSpPr>
        <p:spPr>
          <a:xfrm>
            <a:off x="804672" y="3955694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도구 실행 → 결과 재주입 → 재판단</a:t>
            </a: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490172E1-0759-4C67-6BB0-28BD240727A8}"/>
              </a:ext>
            </a:extLst>
          </p:cNvPr>
          <p:cNvSpPr/>
          <p:nvPr/>
        </p:nvSpPr>
        <p:spPr>
          <a:xfrm>
            <a:off x="804672" y="4411066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근거와 함께 답변·처리과정 공개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589D4913-ADFF-1EF7-808A-90F5508FEDBE}"/>
              </a:ext>
            </a:extLst>
          </p:cNvPr>
          <p:cNvGrpSpPr/>
          <p:nvPr/>
        </p:nvGrpSpPr>
        <p:grpSpPr>
          <a:xfrm>
            <a:off x="2197070" y="3363162"/>
            <a:ext cx="274320" cy="1640434"/>
            <a:chOff x="786384" y="3354019"/>
            <a:chExt cx="274320" cy="1640434"/>
          </a:xfrm>
        </p:grpSpPr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E549DDD9-AAF8-DA3D-BF9B-37BEAB6F9E63}"/>
                </a:ext>
              </a:extLst>
            </p:cNvPr>
            <p:cNvSpPr/>
            <p:nvPr/>
          </p:nvSpPr>
          <p:spPr>
            <a:xfrm>
              <a:off x="786384" y="3354019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6336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↓</a:t>
              </a:r>
              <a:endParaRPr lang="en-US" sz="1200" dirty="0">
                <a:solidFill>
                  <a:srgbClr val="2633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78526A25-F737-968A-D1D8-E1FA4A40CE0C}"/>
                </a:ext>
              </a:extLst>
            </p:cNvPr>
            <p:cNvSpPr/>
            <p:nvPr/>
          </p:nvSpPr>
          <p:spPr>
            <a:xfrm>
              <a:off x="786384" y="380939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6336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↓</a:t>
              </a:r>
              <a:endParaRPr lang="en-US" sz="1200" dirty="0">
                <a:solidFill>
                  <a:srgbClr val="2633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9" name="Text 12">
              <a:extLst>
                <a:ext uri="{FF2B5EF4-FFF2-40B4-BE49-F238E27FC236}">
                  <a16:creationId xmlns:a16="http://schemas.microsoft.com/office/drawing/2014/main" id="{219451C7-F91D-E85F-9B3D-E54F91E10800}"/>
                </a:ext>
              </a:extLst>
            </p:cNvPr>
            <p:cNvSpPr/>
            <p:nvPr/>
          </p:nvSpPr>
          <p:spPr>
            <a:xfrm>
              <a:off x="786384" y="4264762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6336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↓</a:t>
              </a:r>
              <a:endParaRPr lang="en-US" sz="1200" dirty="0">
                <a:solidFill>
                  <a:srgbClr val="2633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1" name="Text 14">
              <a:extLst>
                <a:ext uri="{FF2B5EF4-FFF2-40B4-BE49-F238E27FC236}">
                  <a16:creationId xmlns:a16="http://schemas.microsoft.com/office/drawing/2014/main" id="{4F4B63B1-FFBA-8046-F123-1F3CBCF8690E}"/>
                </a:ext>
              </a:extLst>
            </p:cNvPr>
            <p:cNvSpPr/>
            <p:nvPr/>
          </p:nvSpPr>
          <p:spPr>
            <a:xfrm>
              <a:off x="786384" y="4720133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6336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↓</a:t>
              </a:r>
              <a:endParaRPr lang="en-US" sz="1200" dirty="0">
                <a:solidFill>
                  <a:srgbClr val="2633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52" name="Text 15">
            <a:extLst>
              <a:ext uri="{FF2B5EF4-FFF2-40B4-BE49-F238E27FC236}">
                <a16:creationId xmlns:a16="http://schemas.microsoft.com/office/drawing/2014/main" id="{C3550FBB-DC1F-7161-9856-B788E88F7DAA}"/>
              </a:ext>
            </a:extLst>
          </p:cNvPr>
          <p:cNvSpPr/>
          <p:nvPr/>
        </p:nvSpPr>
        <p:spPr>
          <a:xfrm>
            <a:off x="804672" y="4866437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신청서 작성, 본인 승인 후 종결</a:t>
            </a:r>
          </a:p>
        </p:txBody>
      </p:sp>
      <p:sp>
        <p:nvSpPr>
          <p:cNvPr id="53" name="Shape 16">
            <a:extLst>
              <a:ext uri="{FF2B5EF4-FFF2-40B4-BE49-F238E27FC236}">
                <a16:creationId xmlns:a16="http://schemas.microsoft.com/office/drawing/2014/main" id="{E4CFB5A1-9AD6-B665-457B-5BAB2758B857}"/>
              </a:ext>
            </a:extLst>
          </p:cNvPr>
          <p:cNvSpPr/>
          <p:nvPr/>
        </p:nvSpPr>
        <p:spPr>
          <a:xfrm>
            <a:off x="4343400" y="1325880"/>
            <a:ext cx="3502152" cy="841248"/>
          </a:xfrm>
          <a:prstGeom prst="roundRect">
            <a:avLst>
              <a:gd name="adj" fmla="val 9783"/>
            </a:avLst>
          </a:prstGeom>
          <a:solidFill>
            <a:srgbClr val="26336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DB2B7734-D2DD-01B7-ABB2-43C149E4DBF1}"/>
              </a:ext>
            </a:extLst>
          </p:cNvPr>
          <p:cNvSpPr/>
          <p:nvPr/>
        </p:nvSpPr>
        <p:spPr>
          <a:xfrm>
            <a:off x="4581144" y="1508760"/>
            <a:ext cx="475488" cy="475488"/>
          </a:xfrm>
          <a:prstGeom prst="ellipse">
            <a:avLst/>
          </a:prstGeom>
          <a:solidFill>
            <a:srgbClr val="2E6FB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5" name="Image 1" descr="preencoded.png">
            <a:extLst>
              <a:ext uri="{FF2B5EF4-FFF2-40B4-BE49-F238E27FC236}">
                <a16:creationId xmlns:a16="http://schemas.microsoft.com/office/drawing/2014/main" id="{FCCD02B0-BC6F-07E3-66D6-B6AE96526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636776"/>
            <a:ext cx="219456" cy="219456"/>
          </a:xfrm>
          <a:prstGeom prst="rect">
            <a:avLst/>
          </a:prstGeom>
        </p:spPr>
      </p:pic>
      <p:sp>
        <p:nvSpPr>
          <p:cNvPr id="56" name="Text 18">
            <a:extLst>
              <a:ext uri="{FF2B5EF4-FFF2-40B4-BE49-F238E27FC236}">
                <a16:creationId xmlns:a16="http://schemas.microsoft.com/office/drawing/2014/main" id="{0B713335-F95A-963A-C74F-C1A62859D3F0}"/>
              </a:ext>
            </a:extLst>
          </p:cNvPr>
          <p:cNvSpPr/>
          <p:nvPr/>
        </p:nvSpPr>
        <p:spPr>
          <a:xfrm>
            <a:off x="5166360" y="1325880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능동 점검 모드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0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Proactive (배치·스케줄러)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CB4490EF-D73C-B173-8717-CC608390CB64}"/>
              </a:ext>
            </a:extLst>
          </p:cNvPr>
          <p:cNvSpPr/>
          <p:nvPr/>
        </p:nvSpPr>
        <p:spPr>
          <a:xfrm>
            <a:off x="4343400" y="2295144"/>
            <a:ext cx="3502152" cy="3191256"/>
          </a:xfrm>
          <a:prstGeom prst="roundRect">
            <a:avLst>
              <a:gd name="adj" fmla="val 286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081A4CE4-2E42-B43B-B2F3-6A513FF83BDC}"/>
              </a:ext>
            </a:extLst>
          </p:cNvPr>
          <p:cNvSpPr/>
          <p:nvPr/>
        </p:nvSpPr>
        <p:spPr>
          <a:xfrm>
            <a:off x="4599432" y="247802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묻기 전에 먼저 — ACTIVE_TOOLS 일괄 실행</a:t>
            </a:r>
            <a:endParaRPr lang="en-US" sz="11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55B64EA9-7EAA-6ACB-4C67-ADA19C18D9DC}"/>
              </a:ext>
            </a:extLst>
          </p:cNvPr>
          <p:cNvSpPr/>
          <p:nvPr/>
        </p:nvSpPr>
        <p:spPr>
          <a:xfrm>
            <a:off x="4599432" y="3044952"/>
            <a:ext cx="299008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마감 D-Day 추적 — 출국만기보험·연금 소멸시효 경보</a:t>
            </a:r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6A46E992-8923-00BA-6760-668355648D4E}"/>
              </a:ext>
            </a:extLst>
          </p:cNvPr>
          <p:cNvSpPr/>
          <p:nvPr/>
        </p:nvSpPr>
        <p:spPr>
          <a:xfrm>
            <a:off x="4599432" y="3614166"/>
            <a:ext cx="2990088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09B6C16B-BA85-3854-3A80-67576DA53EC2}"/>
              </a:ext>
            </a:extLst>
          </p:cNvPr>
          <p:cNvSpPr/>
          <p:nvPr/>
        </p:nvSpPr>
        <p:spPr>
          <a:xfrm>
            <a:off x="4599432" y="3614166"/>
            <a:ext cx="299008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송금 경로 최적화 — 최저 비용·절감액 안내</a:t>
            </a:r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91B1AE85-491D-2711-3FF0-D925D65D46F7}"/>
              </a:ext>
            </a:extLst>
          </p:cNvPr>
          <p:cNvSpPr/>
          <p:nvPr/>
        </p:nvSpPr>
        <p:spPr>
          <a:xfrm>
            <a:off x="4599432" y="4183380"/>
            <a:ext cx="2990088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A3902C55-A830-E326-14C2-70261836F32A}"/>
              </a:ext>
            </a:extLst>
          </p:cNvPr>
          <p:cNvSpPr/>
          <p:nvPr/>
        </p:nvSpPr>
        <p:spPr>
          <a:xfrm>
            <a:off x="4599432" y="4183380"/>
            <a:ext cx="299008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서류 OCR 점검 — 갱신 전 신분증·여권 자동 대조</a:t>
            </a:r>
          </a:p>
        </p:txBody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3F76331B-2DC0-1EFE-A41E-EC17BAAC8E2A}"/>
              </a:ext>
            </a:extLst>
          </p:cNvPr>
          <p:cNvSpPr/>
          <p:nvPr/>
        </p:nvSpPr>
        <p:spPr>
          <a:xfrm>
            <a:off x="4599432" y="4752594"/>
            <a:ext cx="2990088" cy="0"/>
          </a:xfrm>
          <a:prstGeom prst="line">
            <a:avLst/>
          </a:prstGeom>
          <a:noFill/>
          <a:ln w="12700">
            <a:solidFill>
              <a:srgbClr val="E1E5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5076D253-E1D5-7886-78CD-F10A1D728DAE}"/>
              </a:ext>
            </a:extLst>
          </p:cNvPr>
          <p:cNvSpPr/>
          <p:nvPr/>
        </p:nvSpPr>
        <p:spPr>
          <a:xfrm>
            <a:off x="4599432" y="4752594"/>
            <a:ext cx="299008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▸ 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신청서 사전 자동작성 — 임박 마감 건 미리 채움</a:t>
            </a:r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E10107EC-C037-0803-7548-5ED3D479920F}"/>
              </a:ext>
            </a:extLst>
          </p:cNvPr>
          <p:cNvSpPr/>
          <p:nvPr/>
        </p:nvSpPr>
        <p:spPr>
          <a:xfrm>
            <a:off x="8138160" y="1325880"/>
            <a:ext cx="3502152" cy="841248"/>
          </a:xfrm>
          <a:prstGeom prst="roundRect">
            <a:avLst>
              <a:gd name="adj" fmla="val 9783"/>
            </a:avLst>
          </a:prstGeom>
          <a:solidFill>
            <a:srgbClr val="26336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90EA5982-AE4A-3E56-99BB-EC7178F9005D}"/>
              </a:ext>
            </a:extLst>
          </p:cNvPr>
          <p:cNvSpPr/>
          <p:nvPr/>
        </p:nvSpPr>
        <p:spPr>
          <a:xfrm>
            <a:off x="8375904" y="1508760"/>
            <a:ext cx="475488" cy="475488"/>
          </a:xfrm>
          <a:prstGeom prst="ellipse">
            <a:avLst/>
          </a:prstGeom>
          <a:solidFill>
            <a:srgbClr val="1B254E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8" name="Image 2" descr="preencoded.png">
            <a:extLst>
              <a:ext uri="{FF2B5EF4-FFF2-40B4-BE49-F238E27FC236}">
                <a16:creationId xmlns:a16="http://schemas.microsoft.com/office/drawing/2014/main" id="{9428AE6C-5EAA-5A3E-E25F-5528FE07B8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1636776"/>
            <a:ext cx="219456" cy="219456"/>
          </a:xfrm>
          <a:prstGeom prst="rect">
            <a:avLst/>
          </a:prstGeom>
        </p:spPr>
      </p:pic>
      <p:sp>
        <p:nvSpPr>
          <p:cNvPr id="69" name="Text 30">
            <a:extLst>
              <a:ext uri="{FF2B5EF4-FFF2-40B4-BE49-F238E27FC236}">
                <a16:creationId xmlns:a16="http://schemas.microsoft.com/office/drawing/2014/main" id="{2832E2B8-EE9B-53A7-36E7-0770ABA7D262}"/>
              </a:ext>
            </a:extLst>
          </p:cNvPr>
          <p:cNvSpPr/>
          <p:nvPr/>
        </p:nvSpPr>
        <p:spPr>
          <a:xfrm>
            <a:off x="8961120" y="1325880"/>
            <a:ext cx="2542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 사기탐지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0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Always-on (fraud-guard)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BB578888-8A36-C8A3-F307-6C5FA08BB53E}"/>
              </a:ext>
            </a:extLst>
          </p:cNvPr>
          <p:cNvSpPr/>
          <p:nvPr/>
        </p:nvSpPr>
        <p:spPr>
          <a:xfrm>
            <a:off x="8138160" y="2295144"/>
            <a:ext cx="3502152" cy="3191256"/>
          </a:xfrm>
          <a:prstGeom prst="roundRect">
            <a:avLst>
              <a:gd name="adj" fmla="val 2865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49540A4D-8CBE-3A67-8857-7A91FE728998}"/>
              </a:ext>
            </a:extLst>
          </p:cNvPr>
          <p:cNvSpPr/>
          <p:nvPr/>
        </p:nvSpPr>
        <p:spPr>
          <a:xfrm>
            <a:off x="8394192" y="247802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거래마다 자동 점검 — 보류 건만 담당자에게</a:t>
            </a:r>
            <a:endParaRPr lang="en-US" sz="11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B7D06149-29B9-DBF2-04C6-6294840EA337}"/>
              </a:ext>
            </a:extLst>
          </p:cNvPr>
          <p:cNvSpPr/>
          <p:nvPr/>
        </p:nvSpPr>
        <p:spPr>
          <a:xfrm>
            <a:off x="8394192" y="3044952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거래 + 비자 컨텍스트 자동 결합</a:t>
            </a: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AC9FEA46-769D-0772-A03E-F6638536A231}"/>
              </a:ext>
            </a:extLst>
          </p:cNvPr>
          <p:cNvSpPr/>
          <p:nvPr/>
        </p:nvSpPr>
        <p:spPr>
          <a:xfrm>
            <a:off x="9857770" y="33631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3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  <a:endParaRPr lang="en-US" sz="1200" dirty="0">
              <a:solidFill>
                <a:srgbClr val="26336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8A93E928-74A8-E9D9-322F-BBB08BDAE253}"/>
              </a:ext>
            </a:extLst>
          </p:cNvPr>
          <p:cNvSpPr/>
          <p:nvPr/>
        </p:nvSpPr>
        <p:spPr>
          <a:xfrm>
            <a:off x="8394192" y="3500323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L1·L2 룰·그룹 정상분포 동시 평가</a:t>
            </a: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FA92A476-3C5C-3F1C-87B8-0E0DAD80C42C}"/>
              </a:ext>
            </a:extLst>
          </p:cNvPr>
          <p:cNvSpPr/>
          <p:nvPr/>
        </p:nvSpPr>
        <p:spPr>
          <a:xfrm>
            <a:off x="9857770" y="38185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3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  <a:endParaRPr lang="en-US" sz="1200" dirty="0">
              <a:solidFill>
                <a:srgbClr val="26336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FA9F006F-FE35-EE4B-2B6E-710A84C5AA1A}"/>
              </a:ext>
            </a:extLst>
          </p:cNvPr>
          <p:cNvSpPr/>
          <p:nvPr/>
        </p:nvSpPr>
        <p:spPr>
          <a:xfrm>
            <a:off x="8394192" y="3955694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L3 결정 엔진 — 두 축을 OR로 결합</a:t>
            </a: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8FEE5A84-2E2E-F05A-F745-5BC7BFD443F1}"/>
              </a:ext>
            </a:extLst>
          </p:cNvPr>
          <p:cNvSpPr/>
          <p:nvPr/>
        </p:nvSpPr>
        <p:spPr>
          <a:xfrm>
            <a:off x="9857770" y="42739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3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  <a:endParaRPr lang="en-US" sz="1200" dirty="0">
              <a:solidFill>
                <a:srgbClr val="26336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E14B7DF7-90EA-5004-5F28-4BEE6674C479}"/>
              </a:ext>
            </a:extLst>
          </p:cNvPr>
          <p:cNvSpPr/>
          <p:nvPr/>
        </p:nvSpPr>
        <p:spPr>
          <a:xfrm>
            <a:off x="8394192" y="4411066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L4 보류 건만 근거 + 모국어 본인확인 생성</a:t>
            </a:r>
          </a:p>
        </p:txBody>
      </p:sp>
      <p:sp>
        <p:nvSpPr>
          <p:cNvPr id="79" name="Text 40">
            <a:extLst>
              <a:ext uri="{FF2B5EF4-FFF2-40B4-BE49-F238E27FC236}">
                <a16:creationId xmlns:a16="http://schemas.microsoft.com/office/drawing/2014/main" id="{7E0F9CB9-B138-C74D-39D7-0E947C4DA05A}"/>
              </a:ext>
            </a:extLst>
          </p:cNvPr>
          <p:cNvSpPr/>
          <p:nvPr/>
        </p:nvSpPr>
        <p:spPr>
          <a:xfrm>
            <a:off x="9857770" y="47292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3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  <a:endParaRPr lang="en-US" sz="1200" dirty="0">
              <a:solidFill>
                <a:srgbClr val="26336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9782AEE0-6E9B-66F7-27AE-F2E3366233E2}"/>
              </a:ext>
            </a:extLst>
          </p:cNvPr>
          <p:cNvSpPr/>
          <p:nvPr/>
        </p:nvSpPr>
        <p:spPr>
          <a:xfrm>
            <a:off x="8394192" y="4866437"/>
            <a:ext cx="2990088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담당자 콘솔에서 근거와 함께 검토 → 조치</a:t>
            </a:r>
          </a:p>
        </p:txBody>
      </p:sp>
      <p:sp>
        <p:nvSpPr>
          <p:cNvPr id="81" name="Shape 42">
            <a:extLst>
              <a:ext uri="{FF2B5EF4-FFF2-40B4-BE49-F238E27FC236}">
                <a16:creationId xmlns:a16="http://schemas.microsoft.com/office/drawing/2014/main" id="{910021D5-7895-4B9C-9145-EDFF42673535}"/>
              </a:ext>
            </a:extLst>
          </p:cNvPr>
          <p:cNvSpPr/>
          <p:nvPr/>
        </p:nvSpPr>
        <p:spPr>
          <a:xfrm>
            <a:off x="548640" y="5760720"/>
            <a:ext cx="7296912" cy="0"/>
          </a:xfrm>
          <a:prstGeom prst="line">
            <a:avLst/>
          </a:prstGeom>
          <a:noFill/>
          <a:ln w="31750">
            <a:solidFill>
              <a:srgbClr val="2E6FB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4EF7AD86-09AC-D097-9100-B8317698C529}"/>
              </a:ext>
            </a:extLst>
          </p:cNvPr>
          <p:cNvSpPr/>
          <p:nvPr/>
        </p:nvSpPr>
        <p:spPr>
          <a:xfrm>
            <a:off x="594360" y="5833872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6FB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●  </a:t>
            </a:r>
            <a:r>
              <a:rPr lang="en-US" sz="1300" b="1" dirty="0">
                <a:solidFill>
                  <a:srgbClr val="2E6FB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접점</a:t>
            </a:r>
            <a:r>
              <a:rPr lang="en-US" sz="1150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먼저 챙겨주는 금융 비서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Shape 44">
            <a:extLst>
              <a:ext uri="{FF2B5EF4-FFF2-40B4-BE49-F238E27FC236}">
                <a16:creationId xmlns:a16="http://schemas.microsoft.com/office/drawing/2014/main" id="{93FDD27E-9D32-11E7-3FCC-0C4278C409CE}"/>
              </a:ext>
            </a:extLst>
          </p:cNvPr>
          <p:cNvSpPr/>
          <p:nvPr/>
        </p:nvSpPr>
        <p:spPr>
          <a:xfrm>
            <a:off x="8138160" y="5760720"/>
            <a:ext cx="3502152" cy="0"/>
          </a:xfrm>
          <a:prstGeom prst="line">
            <a:avLst/>
          </a:prstGeom>
          <a:noFill/>
          <a:ln w="31750">
            <a:solidFill>
              <a:srgbClr val="1B254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Text 45">
            <a:extLst>
              <a:ext uri="{FF2B5EF4-FFF2-40B4-BE49-F238E27FC236}">
                <a16:creationId xmlns:a16="http://schemas.microsoft.com/office/drawing/2014/main" id="{4135D006-5B67-F63D-DF54-E3777609D1CA}"/>
              </a:ext>
            </a:extLst>
          </p:cNvPr>
          <p:cNvSpPr/>
          <p:nvPr/>
        </p:nvSpPr>
        <p:spPr>
          <a:xfrm>
            <a:off x="8183880" y="5833872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54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●  </a:t>
            </a:r>
            <a:r>
              <a:rPr lang="en-US" sz="1300" b="1" dirty="0">
                <a:solidFill>
                  <a:srgbClr val="1B254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내부 운영</a:t>
            </a:r>
            <a:r>
              <a:rPr lang="en-US" sz="1150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담당자 업무 시스템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</a:rPr>
              <a:t>04-A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4103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</a:rPr>
              <a:t>주요</a:t>
            </a:r>
            <a:r>
              <a:rPr sz="250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</a:rPr>
              <a:t>기능</a:t>
            </a:r>
            <a:r>
              <a:rPr sz="250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</a:rPr>
              <a:t>정의</a:t>
            </a:r>
            <a:r>
              <a:rPr sz="2500" b="1" dirty="0">
                <a:solidFill>
                  <a:srgbClr val="14264F"/>
                </a:solidFill>
                <a:latin typeface="Pretendard"/>
              </a:rPr>
              <a:t> - </a:t>
            </a:r>
            <a:r>
              <a:rPr sz="2500" b="1" dirty="0" err="1">
                <a:solidFill>
                  <a:srgbClr val="14264F"/>
                </a:solidFill>
                <a:latin typeface="Pretendard"/>
              </a:rPr>
              <a:t>자산관리</a:t>
            </a:r>
            <a:r>
              <a:rPr sz="2500" b="1" dirty="0">
                <a:solidFill>
                  <a:srgbClr val="14264F"/>
                </a:solidFill>
                <a:latin typeface="Pretendard"/>
              </a:rPr>
              <a:t> ① </a:t>
            </a:r>
            <a:r>
              <a:rPr sz="2500" b="1" dirty="0" err="1">
                <a:solidFill>
                  <a:srgbClr val="14264F"/>
                </a:solidFill>
                <a:latin typeface="Pretendard"/>
              </a:rPr>
              <a:t>문제와</a:t>
            </a:r>
            <a:r>
              <a:rPr sz="250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</a:rPr>
              <a:t>해결</a:t>
            </a:r>
            <a:r>
              <a:rPr sz="250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</a:rPr>
              <a:t>구조</a:t>
            </a:r>
            <a:endParaRPr sz="2500" b="1" dirty="0">
              <a:solidFill>
                <a:srgbClr val="14264F"/>
              </a:solidFill>
              <a:latin typeface="Prete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7899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50" b="0" dirty="0" err="1">
                <a:solidFill>
                  <a:srgbClr val="515869"/>
                </a:solidFill>
                <a:latin typeface="Pretendard"/>
              </a:rPr>
              <a:t>문제의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본질은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정보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부재가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아니라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능동성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부재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.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비자와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자산을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읽어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먼저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챙길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것을</a:t>
            </a:r>
            <a:r>
              <a:rPr sz="1250" b="0" dirty="0">
                <a:solidFill>
                  <a:srgbClr val="515869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</a:rPr>
              <a:t>고른다</a:t>
            </a:r>
            <a:endParaRPr sz="1250" b="0" dirty="0">
              <a:solidFill>
                <a:srgbClr val="515869"/>
              </a:solidFill>
              <a:latin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08792" cy="9144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783080"/>
            <a:ext cx="2926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50" b="1" dirty="0" err="1">
                <a:solidFill>
                  <a:srgbClr val="14264F"/>
                </a:solidFill>
                <a:latin typeface="Pretendard"/>
              </a:rPr>
              <a:t>외국인이</a:t>
            </a:r>
            <a:r>
              <a:rPr sz="115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1150" b="1" dirty="0" err="1">
                <a:solidFill>
                  <a:srgbClr val="14264F"/>
                </a:solidFill>
                <a:latin typeface="Pretendard"/>
              </a:rPr>
              <a:t>돈을</a:t>
            </a:r>
            <a:r>
              <a:rPr sz="115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1150" b="1" dirty="0" err="1">
                <a:solidFill>
                  <a:srgbClr val="14264F"/>
                </a:solidFill>
                <a:latin typeface="Pretendard"/>
              </a:rPr>
              <a:t>놓치는</a:t>
            </a:r>
            <a:r>
              <a:rPr sz="115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1150" b="1" dirty="0" err="1">
                <a:solidFill>
                  <a:srgbClr val="14264F"/>
                </a:solidFill>
                <a:latin typeface="Pretendard"/>
              </a:rPr>
              <a:t>이유</a:t>
            </a:r>
            <a:endParaRPr sz="1150" b="1" dirty="0">
              <a:solidFill>
                <a:srgbClr val="14264F"/>
              </a:solidFill>
              <a:latin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176272"/>
            <a:ext cx="3154680" cy="73152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249424"/>
            <a:ext cx="27889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>
                <a:solidFill>
                  <a:srgbClr val="14264F"/>
                </a:solidFill>
                <a:latin typeface="Pretendard"/>
              </a:rPr>
              <a:t>받을</a:t>
            </a:r>
            <a:r>
              <a:rPr sz="120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14264F"/>
                </a:solidFill>
                <a:latin typeface="Pretendard"/>
              </a:rPr>
              <a:t>돈을</a:t>
            </a:r>
            <a:r>
              <a:rPr sz="1200" b="1" dirty="0">
                <a:solidFill>
                  <a:srgbClr val="14264F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14264F"/>
                </a:solidFill>
                <a:latin typeface="Pretendard"/>
              </a:rPr>
              <a:t>모른다</a:t>
            </a:r>
            <a:endParaRPr sz="1200" b="1" dirty="0">
              <a:solidFill>
                <a:srgbClr val="14264F"/>
              </a:solidFill>
              <a:latin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505456"/>
            <a:ext cx="278892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80" b="0">
                <a:solidFill>
                  <a:srgbClr val="515869"/>
                </a:solidFill>
                <a:latin typeface="Pretendard"/>
              </a:rPr>
              <a:t>연금 반환일시금과 출국만기보험 청구 마감을 몰라 놓침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80944"/>
            <a:ext cx="3154680" cy="73152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054096"/>
            <a:ext cx="27889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>
                <a:solidFill>
                  <a:srgbClr val="14264F"/>
                </a:solidFill>
                <a:latin typeface="Pretendard"/>
              </a:rPr>
              <a:t>수수료를 더 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310127"/>
            <a:ext cx="278892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80" b="0">
                <a:solidFill>
                  <a:srgbClr val="515869"/>
                </a:solidFill>
                <a:latin typeface="Pretendard"/>
              </a:rPr>
              <a:t>매달 송금에서 평균 5%대 수수료를 그대로 부담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85615"/>
            <a:ext cx="3154680" cy="73152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858768"/>
            <a:ext cx="27889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>
                <a:solidFill>
                  <a:srgbClr val="14264F"/>
                </a:solidFill>
                <a:latin typeface="Pretendard"/>
              </a:rPr>
              <a:t>신용에서 배제된다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14800"/>
            <a:ext cx="278892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80" b="0">
                <a:solidFill>
                  <a:srgbClr val="515869"/>
                </a:solidFill>
                <a:latin typeface="Pretendard"/>
              </a:rPr>
              <a:t>금융 이력이 없는 Thin Filer라 대출과 상품에서 제외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90288"/>
            <a:ext cx="3154680" cy="73152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663440"/>
            <a:ext cx="27889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>
                <a:solidFill>
                  <a:srgbClr val="14264F"/>
                </a:solidFill>
                <a:latin typeface="Pretendard"/>
              </a:rPr>
              <a:t>언어에 막힌다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919472"/>
            <a:ext cx="2788920" cy="3840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80" b="0">
                <a:solidFill>
                  <a:srgbClr val="515869"/>
                </a:solidFill>
                <a:latin typeface="Pretendard"/>
              </a:rPr>
              <a:t>한국어 금융 안내를 이해 못 해 스스로 못 챙김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331720"/>
            <a:ext cx="3246120" cy="2103120"/>
          </a:xfrm>
          <a:prstGeom prst="round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2487168"/>
            <a:ext cx="27889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능동 점검 엔진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834640"/>
            <a:ext cx="2788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50" b="1">
                <a:solidFill>
                  <a:srgbClr val="C5D2E8"/>
                </a:solidFill>
                <a:latin typeface="Pretendard"/>
              </a:rPr>
              <a:t>active_plan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154680"/>
            <a:ext cx="278892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 dirty="0" err="1">
                <a:solidFill>
                  <a:srgbClr val="FFFFFF"/>
                </a:solidFill>
                <a:latin typeface="Pretendard"/>
              </a:rPr>
              <a:t>비자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·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임금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·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예치금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·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연금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값을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읽어</a:t>
            </a:r>
            <a:endParaRPr sz="1080" b="0" dirty="0">
              <a:solidFill>
                <a:srgbClr val="FFFFFF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80" b="0" dirty="0" err="1">
                <a:solidFill>
                  <a:srgbClr val="FFFFFF"/>
                </a:solidFill>
                <a:latin typeface="Pretendard"/>
              </a:rPr>
              <a:t>의미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있는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도구만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자동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FFFFFF"/>
                </a:solidFill>
                <a:latin typeface="Pretendard"/>
              </a:rPr>
              <a:t>선별한다</a:t>
            </a:r>
            <a:r>
              <a:rPr sz="1080" b="0" dirty="0">
                <a:solidFill>
                  <a:srgbClr val="FFFFFF"/>
                </a:solidFill>
                <a:latin typeface="Pretendard"/>
              </a:rPr>
              <a:t>.</a:t>
            </a:r>
          </a:p>
          <a:p>
            <a:pPr algn="l">
              <a:spcAft>
                <a:spcPts val="200"/>
              </a:spcAft>
            </a:pPr>
            <a:endParaRPr sz="1080" b="0" dirty="0">
              <a:solidFill>
                <a:srgbClr val="FFFFFF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80" b="0" dirty="0" err="1">
                <a:solidFill>
                  <a:srgbClr val="C5D2E8"/>
                </a:solidFill>
                <a:latin typeface="Pretendard"/>
              </a:rPr>
              <a:t>묻기</a:t>
            </a:r>
            <a:r>
              <a:rPr sz="1080" b="0" dirty="0">
                <a:solidFill>
                  <a:srgbClr val="C5D2E8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C5D2E8"/>
                </a:solidFill>
                <a:latin typeface="Pretendard"/>
              </a:rPr>
              <a:t>전에</a:t>
            </a:r>
            <a:r>
              <a:rPr sz="1080" b="0" dirty="0">
                <a:solidFill>
                  <a:srgbClr val="C5D2E8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C5D2E8"/>
                </a:solidFill>
                <a:latin typeface="Pretendard"/>
              </a:rPr>
              <a:t>먼저</a:t>
            </a:r>
            <a:r>
              <a:rPr sz="1080" b="0" dirty="0">
                <a:solidFill>
                  <a:srgbClr val="C5D2E8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C5D2E8"/>
                </a:solidFill>
                <a:latin typeface="Pretendard"/>
              </a:rPr>
              <a:t>우선순위를</a:t>
            </a:r>
            <a:r>
              <a:rPr sz="1080" b="0" dirty="0">
                <a:solidFill>
                  <a:srgbClr val="C5D2E8"/>
                </a:solidFill>
                <a:latin typeface="Pretendard"/>
              </a:rPr>
              <a:t> </a:t>
            </a:r>
            <a:r>
              <a:rPr sz="1080" b="0" dirty="0" err="1">
                <a:solidFill>
                  <a:srgbClr val="C5D2E8"/>
                </a:solidFill>
                <a:latin typeface="Pretendard"/>
              </a:rPr>
              <a:t>제시</a:t>
            </a:r>
            <a:r>
              <a:rPr sz="1080" b="0" dirty="0">
                <a:solidFill>
                  <a:srgbClr val="C5D2E8"/>
                </a:solidFill>
                <a:latin typeface="Pretendard"/>
              </a:rPr>
              <a:t>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22191" y="3246120"/>
            <a:ext cx="292608" cy="274320"/>
          </a:xfrm>
          <a:prstGeom prst="rightArrow">
            <a:avLst/>
          </a:prstGeom>
          <a:solidFill>
            <a:srgbClr val="3A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7479792" y="3246120"/>
            <a:ext cx="292608" cy="274320"/>
          </a:xfrm>
          <a:prstGeom prst="rightArrow">
            <a:avLst/>
          </a:prstGeom>
          <a:solidFill>
            <a:srgbClr val="3A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82127" y="1783080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50" b="1">
                <a:solidFill>
                  <a:srgbClr val="14264F"/>
                </a:solidFill>
                <a:latin typeface="Pretendard"/>
              </a:rPr>
              <a:t>선별되는 자산 도구 5종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82127" y="2194560"/>
            <a:ext cx="3611880" cy="36576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9" y="2240279"/>
            <a:ext cx="32918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80" b="1">
                <a:solidFill>
                  <a:srgbClr val="14264F"/>
                </a:solidFill>
                <a:latin typeface="Pretendard"/>
              </a:rPr>
              <a:t>마감 D-Day 추적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615184"/>
            <a:ext cx="3611880" cy="36576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19" y="2660903"/>
            <a:ext cx="32918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80" b="1">
                <a:solidFill>
                  <a:srgbClr val="14264F"/>
                </a:solidFill>
                <a:latin typeface="Pretendard"/>
              </a:rPr>
              <a:t>연금 반환일시금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035808"/>
            <a:ext cx="3611880" cy="36576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9" y="3081527"/>
            <a:ext cx="32918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80" b="1">
                <a:solidFill>
                  <a:srgbClr val="14264F"/>
                </a:solidFill>
                <a:latin typeface="Pretendard"/>
              </a:rPr>
              <a:t>예금담보대출 한도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82127" y="3456432"/>
            <a:ext cx="3611880" cy="36576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9" y="3502151"/>
            <a:ext cx="32918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80" b="1">
                <a:solidFill>
                  <a:srgbClr val="14264F"/>
                </a:solidFill>
                <a:latin typeface="Pretendard"/>
              </a:rPr>
              <a:t>송금 경로 최적화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82127" y="3877056"/>
            <a:ext cx="3611880" cy="365760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19" y="3922776"/>
            <a:ext cx="32918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80" b="1">
                <a:solidFill>
                  <a:srgbClr val="14264F"/>
                </a:solidFill>
                <a:latin typeface="Pretendard"/>
              </a:rPr>
              <a:t>대안신용 축적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43400"/>
            <a:ext cx="3611880" cy="713232"/>
          </a:xfrm>
          <a:prstGeom prst="rect">
            <a:avLst/>
          </a:prstGeom>
          <a:solidFill>
            <a:srgbClr val="F1F3F7"/>
          </a:solidFill>
          <a:ln w="12700">
            <a:solidFill>
              <a:srgbClr val="142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19" y="4416552"/>
            <a:ext cx="32918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264F"/>
                </a:solidFill>
                <a:latin typeface="Pretendard"/>
              </a:rPr>
              <a:t>첫 화면 우선순위 3개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15869"/>
                </a:solidFill>
                <a:latin typeface="Pretendard"/>
              </a:rPr>
              <a:t>출국 D-Day가 급한 민에게는 보험·연금·송금을 먼저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559552"/>
            <a:ext cx="10908792" cy="841248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5650992"/>
            <a:ext cx="2743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50" b="1">
                <a:solidFill>
                  <a:srgbClr val="C5D2E8"/>
                </a:solidFill>
                <a:latin typeface="Pretendard"/>
              </a:rPr>
              <a:t>입국부터 귀국까지 동행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943600"/>
            <a:ext cx="104241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Pretendard"/>
              </a:rPr>
              <a:t>입국·정착   →   안정화   →   체류 확장   →   귀국·사후      매일 새벽 자산 일정을 자동 점검해 마감 전에 모국어로 알림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04-A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주요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기능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정의</a:t>
            </a:r>
            <a:r>
              <a:rPr lang="ko-KR" altLang="en-US"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자산관리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② </a:t>
            </a:r>
            <a:r>
              <a:rPr lang="en-US" altLang="ko-KR"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Tool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5종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예금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대출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송금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연금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보험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신용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입국부터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귀국까지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권리가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있는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돈을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놓치지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않게</a:t>
            </a:r>
            <a:endParaRPr sz="1250" b="0" dirty="0">
              <a:solidFill>
                <a:srgbClr val="5158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0908792" cy="694944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2199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마감 D-Day 추적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21992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출국일과 소멸시효 대조 → 청구 마감과 적립액 산출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22199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E-9만 보험 대상 자동 판별 / 월 임금 × 8.3% × 재직 개월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35224"/>
            <a:ext cx="10908792" cy="6949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연금 반환일시금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008376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사회보장협정 여부와 납부 월수로 수령 가부 판정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008376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협정 미체결 오해 정정, 유학생은 취업전환 경로로 분기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21608"/>
            <a:ext cx="10908792" cy="694944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예금담보대출 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947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비자 유지로 묶인 예치금의 담보 가치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947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예치금 0이면 대상 제외 / 예치금 × 95% 한도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07992"/>
            <a:ext cx="10908792" cy="6949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581144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송금 경로 최적화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581144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경로별 수수료 비교 → 최저 비용 경로 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581144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정기 송금 없으면 비교 생략 / 연 절감액 함께 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94376"/>
            <a:ext cx="10908792" cy="694944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36752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대안신용 축적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367528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월세와 통신비 납부 이력으로 신용 단계 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536752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Thin Filer → 6개월 형성과 완성 단계 구분 추정</a:t>
            </a:r>
          </a:p>
        </p:txBody>
      </p:sp>
      <p:pic>
        <p:nvPicPr>
          <p:cNvPr id="29" name="Picture 2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30" name="Picture 2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34F824C-7383-C7EA-9B5B-90416C0CDE13}"/>
              </a:ext>
            </a:extLst>
          </p:cNvPr>
          <p:cNvSpPr txBox="1"/>
          <p:nvPr/>
        </p:nvSpPr>
        <p:spPr>
          <a:xfrm>
            <a:off x="676656" y="1783080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기능</a:t>
            </a:r>
            <a:r>
              <a:rPr lang="ko-KR" altLang="en-US" sz="11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                     </a:t>
            </a:r>
            <a:r>
              <a:rPr lang="en-US" altLang="ko-KR" sz="11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				</a:t>
            </a:r>
            <a:r>
              <a:rPr lang="ko-KR" altLang="en-US" sz="11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          핵심 동작                                                                                                                               해결 과제 </a:t>
            </a:r>
            <a:endParaRPr sz="11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04-B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주요 기능 정의 - 서류행정 3종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정보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안내가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PDF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서류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작성까지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대행하는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것이</a:t>
            </a:r>
            <a:r>
              <a:rPr sz="12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차별점</a:t>
            </a:r>
            <a:endParaRPr sz="1250" b="0" dirty="0">
              <a:solidFill>
                <a:srgbClr val="5158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3" name="Picture 2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27" name="Shape 16">
            <a:extLst>
              <a:ext uri="{FF2B5EF4-FFF2-40B4-BE49-F238E27FC236}">
                <a16:creationId xmlns:a16="http://schemas.microsoft.com/office/drawing/2014/main" id="{562A81C9-AC4B-19F6-D36F-1CED344D109D}"/>
              </a:ext>
            </a:extLst>
          </p:cNvPr>
          <p:cNvSpPr/>
          <p:nvPr/>
        </p:nvSpPr>
        <p:spPr>
          <a:xfrm>
            <a:off x="607090" y="5413248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BEEF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1531B757-FA29-0E69-7BEA-5C2F3FD2D845}"/>
              </a:ext>
            </a:extLst>
          </p:cNvPr>
          <p:cNvSpPr/>
          <p:nvPr/>
        </p:nvSpPr>
        <p:spPr>
          <a:xfrm>
            <a:off x="899698" y="564184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F2A5C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B8F17733-4422-4015-C0B7-0629E312590B}"/>
              </a:ext>
            </a:extLst>
          </p:cNvPr>
          <p:cNvSpPr/>
          <p:nvPr/>
        </p:nvSpPr>
        <p:spPr>
          <a:xfrm>
            <a:off x="899698" y="5641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발전형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6CF205E1-D5A6-AFD6-8CFB-E79618C133FE}"/>
              </a:ext>
            </a:extLst>
          </p:cNvPr>
          <p:cNvSpPr/>
          <p:nvPr/>
        </p:nvSpPr>
        <p:spPr>
          <a:xfrm>
            <a:off x="2024410" y="5413248"/>
            <a:ext cx="9400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출국 전 대출 상환 Closed-Loop: </a:t>
            </a:r>
            <a:r>
              <a:rPr lang="en-US" sz="13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반환일시금 수취계좌를 상환 가상계좌로 매핑해 무단 출국 부실을 구조적으로 차단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5427B566-359C-4EBF-11AB-0D1E58DD659F}"/>
              </a:ext>
            </a:extLst>
          </p:cNvPr>
          <p:cNvSpPr/>
          <p:nvPr/>
        </p:nvSpPr>
        <p:spPr>
          <a:xfrm>
            <a:off x="607090" y="1572768"/>
            <a:ext cx="3361944" cy="868680"/>
          </a:xfrm>
          <a:prstGeom prst="roundRect">
            <a:avLst>
              <a:gd name="adj" fmla="val 10526"/>
            </a:avLst>
          </a:prstGeom>
          <a:solidFill>
            <a:srgbClr val="14255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B3175286-4792-E5F1-455B-7E5F4371DEBC}"/>
              </a:ext>
            </a:extLst>
          </p:cNvPr>
          <p:cNvSpPr/>
          <p:nvPr/>
        </p:nvSpPr>
        <p:spPr>
          <a:xfrm>
            <a:off x="607090" y="1572768"/>
            <a:ext cx="3361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Perception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C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서류 인지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2420577E-15B4-8AA8-84F8-4A100EB349B4}"/>
              </a:ext>
            </a:extLst>
          </p:cNvPr>
          <p:cNvSpPr/>
          <p:nvPr/>
        </p:nvSpPr>
        <p:spPr>
          <a:xfrm>
            <a:off x="607090" y="2587752"/>
            <a:ext cx="3361944" cy="2514600"/>
          </a:xfrm>
          <a:prstGeom prst="roundRect">
            <a:avLst>
              <a:gd name="adj" fmla="val 3636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AAF1604D-B8F5-4861-DF08-C076E4C0E53D}"/>
              </a:ext>
            </a:extLst>
          </p:cNvPr>
          <p:cNvSpPr/>
          <p:nvPr/>
        </p:nvSpPr>
        <p:spPr>
          <a:xfrm>
            <a:off x="881410" y="2843784"/>
            <a:ext cx="2813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외국인등록증, 여권, 계약서를 OCR로 읽어 항목 추출, 영문 실명 불일치 검출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신뢰도 0.85 미만 → 수동검토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381D00F2-4DF7-F79F-8B9B-5F39B856F9F9}"/>
              </a:ext>
            </a:extLst>
          </p:cNvPr>
          <p:cNvSpPr/>
          <p:nvPr/>
        </p:nvSpPr>
        <p:spPr>
          <a:xfrm>
            <a:off x="4471954" y="1572768"/>
            <a:ext cx="3361944" cy="868680"/>
          </a:xfrm>
          <a:prstGeom prst="roundRect">
            <a:avLst>
              <a:gd name="adj" fmla="val 10526"/>
            </a:avLst>
          </a:prstGeom>
          <a:solidFill>
            <a:srgbClr val="3B4E80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913237BA-5DCC-4885-AFEB-895704743B80}"/>
              </a:ext>
            </a:extLst>
          </p:cNvPr>
          <p:cNvSpPr/>
          <p:nvPr/>
        </p:nvSpPr>
        <p:spPr>
          <a:xfrm>
            <a:off x="4471954" y="1572768"/>
            <a:ext cx="3361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Reasoning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C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준법 심사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9A654AB4-52BA-E686-3B21-EB71624C47C7}"/>
              </a:ext>
            </a:extLst>
          </p:cNvPr>
          <p:cNvSpPr/>
          <p:nvPr/>
        </p:nvSpPr>
        <p:spPr>
          <a:xfrm>
            <a:off x="4471954" y="2587752"/>
            <a:ext cx="3361944" cy="2514600"/>
          </a:xfrm>
          <a:prstGeom prst="roundRect">
            <a:avLst>
              <a:gd name="adj" fmla="val 3636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9D56FF2C-AAB4-58A6-DA58-C679FA891D6A}"/>
              </a:ext>
            </a:extLst>
          </p:cNvPr>
          <p:cNvSpPr/>
          <p:nvPr/>
        </p:nvSpPr>
        <p:spPr>
          <a:xfrm>
            <a:off x="4746274" y="2843784"/>
            <a:ext cx="2813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전세사기 : 전세가율 80% 초과 + 3개 이상 지표를 기반하여 위험 판정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취업자격 : 체류 자격별 허용 업종 rule table 위반 시 경고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E271F552-E537-23B6-D67B-CD11D9BA2B7E}"/>
              </a:ext>
            </a:extLst>
          </p:cNvPr>
          <p:cNvSpPr/>
          <p:nvPr/>
        </p:nvSpPr>
        <p:spPr>
          <a:xfrm>
            <a:off x="8336818" y="1572768"/>
            <a:ext cx="3361944" cy="868680"/>
          </a:xfrm>
          <a:prstGeom prst="roundRect">
            <a:avLst>
              <a:gd name="adj" fmla="val 10526"/>
            </a:avLst>
          </a:prstGeom>
          <a:solidFill>
            <a:srgbClr val="14255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A0898B9B-1A8A-55BA-5178-F6B7C15A3395}"/>
              </a:ext>
            </a:extLst>
          </p:cNvPr>
          <p:cNvSpPr/>
          <p:nvPr/>
        </p:nvSpPr>
        <p:spPr>
          <a:xfrm>
            <a:off x="8336818" y="1572768"/>
            <a:ext cx="3361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 Action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CF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신청서 작성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6B10C172-D07C-32BC-1D9F-A686D24219A4}"/>
              </a:ext>
            </a:extLst>
          </p:cNvPr>
          <p:cNvSpPr/>
          <p:nvPr/>
        </p:nvSpPr>
        <p:spPr>
          <a:xfrm>
            <a:off x="8336818" y="2587752"/>
            <a:ext cx="3361944" cy="2514600"/>
          </a:xfrm>
          <a:prstGeom prst="roundRect">
            <a:avLst>
              <a:gd name="adj" fmla="val 3636"/>
            </a:avLst>
          </a:prstGeom>
          <a:solidFill>
            <a:srgbClr val="F1F3F8"/>
          </a:solidFill>
          <a:ln/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B25F71F7-0B52-C37F-C8B5-A1E74CE51041}"/>
              </a:ext>
            </a:extLst>
          </p:cNvPr>
          <p:cNvSpPr/>
          <p:nvPr/>
        </p:nvSpPr>
        <p:spPr>
          <a:xfrm>
            <a:off x="8611138" y="2843784"/>
            <a:ext cx="2813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PDF 필드 좌표 매핑 방식으로 정부 신청서 자동완성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 79%, 수십 분 → 수십 초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서류 자동완성 77%로 반려율 감소에 따른 외국인 대출 연체율 개선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04-C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주요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기능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정의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사기탐지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①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Tool 4종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7899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외국인 특화 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FDS(fraud-guard) — 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일반 모델이 놓치는 두 오류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5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오탐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미탐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25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그룹 기준과 출국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언어 맥락으로 보정</a:t>
            </a:r>
            <a:endParaRPr sz="1250" dirty="0">
              <a:solidFill>
                <a:srgbClr val="5158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783080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기능</a:t>
            </a:r>
            <a:r>
              <a:rPr lang="ko-KR" altLang="en-US" sz="11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                     </a:t>
            </a:r>
            <a:r>
              <a:rPr lang="en-US" altLang="ko-KR" sz="11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				</a:t>
            </a:r>
            <a:r>
              <a:rPr lang="ko-KR" altLang="en-US" sz="11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          핵심 동작                                                                                                                               해결 과제 </a:t>
            </a:r>
            <a:endParaRPr sz="11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0908792" cy="694944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88589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그룹 정상분포 학습</a:t>
            </a:r>
            <a:endParaRPr sz="13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9039" y="2221992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국적×비자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)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그룹의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정상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거래로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Isolation Forest +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분위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임계를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학습</a:t>
            </a:r>
            <a:endParaRPr sz="1150" b="0" dirty="0">
              <a:solidFill>
                <a:srgbClr val="161B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0" y="2407826"/>
            <a:ext cx="28346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dirty="0" err="1">
                <a:latin typeface="Pretendard"/>
                <a:ea typeface="Pretendard"/>
                <a:cs typeface="Pretendard"/>
              </a:rPr>
              <a:t>오탐</a:t>
            </a:r>
            <a:r>
              <a:rPr sz="1150" b="0" dirty="0">
                <a:latin typeface="Pretendard"/>
                <a:ea typeface="Pretendard"/>
                <a:cs typeface="Pretendard"/>
              </a:rPr>
              <a:t> —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그룹별</a:t>
            </a:r>
            <a:r>
              <a:rPr sz="1150" b="0" dirty="0"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정상</a:t>
            </a:r>
            <a:r>
              <a:rPr sz="1150" b="0" dirty="0"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정의</a:t>
            </a:r>
            <a:endParaRPr sz="1150" b="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2935224"/>
            <a:ext cx="10908792" cy="69494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174974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실시간 거래 점수화</a:t>
            </a:r>
            <a:endParaRPr sz="13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49039" y="3008376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거래를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룰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두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축으로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평가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결합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결정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보류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시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설명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첨부</a:t>
            </a:r>
            <a:endParaRPr sz="1150" b="0" dirty="0">
              <a:solidFill>
                <a:srgbClr val="161B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5360" y="3194210"/>
            <a:ext cx="28346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dirty="0" err="1">
                <a:latin typeface="Pretendard"/>
                <a:ea typeface="Pretendard"/>
                <a:cs typeface="Pretendard"/>
              </a:rPr>
              <a:t>탐지</a:t>
            </a:r>
            <a:r>
              <a:rPr sz="1150" b="0" dirty="0"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본체</a:t>
            </a:r>
            <a:r>
              <a:rPr sz="1150" b="0" dirty="0">
                <a:latin typeface="Pretendard"/>
                <a:ea typeface="Pretendard"/>
                <a:cs typeface="Pretendard"/>
              </a:rPr>
              <a:t> —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오탐</a:t>
            </a:r>
            <a:r>
              <a:rPr sz="1150" b="0" dirty="0">
                <a:latin typeface="Pretendard"/>
                <a:ea typeface="Pretendard"/>
                <a:cs typeface="Pretendard"/>
              </a:rPr>
              <a:t>,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미탐</a:t>
            </a:r>
            <a:r>
              <a:rPr sz="1150" b="0" dirty="0"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동시</a:t>
            </a:r>
            <a:endParaRPr sz="1150" b="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3721608"/>
            <a:ext cx="10908792" cy="694944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61358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계좌양도 탐지</a:t>
            </a:r>
            <a:endParaRPr sz="13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49039" y="37947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출국 임박도를 지수 가중으로 더해 출국기 계좌양도 위험 상향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980594"/>
            <a:ext cx="28346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dirty="0" err="1">
                <a:latin typeface="Pretendard"/>
                <a:ea typeface="Pretendard"/>
                <a:cs typeface="Pretendard"/>
              </a:rPr>
              <a:t>미탐</a:t>
            </a:r>
            <a:r>
              <a:rPr sz="1150" b="0" dirty="0">
                <a:latin typeface="Pretendard"/>
                <a:ea typeface="Pretendard"/>
                <a:cs typeface="Pretendard"/>
              </a:rPr>
              <a:t> —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시나리오</a:t>
            </a:r>
            <a:r>
              <a:rPr sz="1150" b="0" dirty="0">
                <a:latin typeface="Pretendard"/>
                <a:ea typeface="Pretendard"/>
                <a:cs typeface="Pretendard"/>
              </a:rPr>
              <a:t> A(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양도</a:t>
            </a:r>
            <a:r>
              <a:rPr sz="1150" b="0" dirty="0"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07992"/>
            <a:ext cx="10908792" cy="694944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47742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모국어 본인확인 요청 </a:t>
            </a:r>
            <a:endParaRPr sz="13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49039" y="4581144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보류 거래에 고객 모국어 본인확인 메시지 생성(내부코드 비노출)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766978"/>
            <a:ext cx="28346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dirty="0" err="1">
                <a:latin typeface="Pretendard"/>
                <a:ea typeface="Pretendard"/>
                <a:cs typeface="Pretendard"/>
              </a:rPr>
              <a:t>미탐</a:t>
            </a:r>
            <a:r>
              <a:rPr sz="1150" b="0" dirty="0">
                <a:latin typeface="Pretendard"/>
                <a:ea typeface="Pretendard"/>
                <a:cs typeface="Pretendard"/>
              </a:rPr>
              <a:t> — 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시나리오</a:t>
            </a:r>
            <a:r>
              <a:rPr sz="1150" b="0" dirty="0">
                <a:latin typeface="Pretendard"/>
                <a:ea typeface="Pretendard"/>
                <a:cs typeface="Pretendard"/>
              </a:rPr>
              <a:t> B(</a:t>
            </a:r>
            <a:r>
              <a:rPr sz="1150" b="0" dirty="0" err="1">
                <a:latin typeface="Pretendard"/>
                <a:ea typeface="Pretendard"/>
                <a:cs typeface="Pretendard"/>
              </a:rPr>
              <a:t>피싱</a:t>
            </a:r>
            <a:r>
              <a:rPr sz="1150" b="0" dirty="0">
                <a:latin typeface="Pretendard"/>
                <a:ea typeface="Pretendard"/>
                <a:cs typeface="Pretendard"/>
              </a:rPr>
              <a:t>)</a:t>
            </a:r>
          </a:p>
        </p:txBody>
      </p:sp>
      <p:pic>
        <p:nvPicPr>
          <p:cNvPr id="29" name="Picture 2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30" name="Picture 2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7" name="Text 21">
            <a:extLst>
              <a:ext uri="{FF2B5EF4-FFF2-40B4-BE49-F238E27FC236}">
                <a16:creationId xmlns:a16="http://schemas.microsoft.com/office/drawing/2014/main" id="{70BCB45F-1B17-7608-8D57-6851014B380A}"/>
              </a:ext>
            </a:extLst>
          </p:cNvPr>
          <p:cNvSpPr/>
          <p:nvPr/>
        </p:nvSpPr>
        <p:spPr>
          <a:xfrm>
            <a:off x="1765662" y="55458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4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오탐 (False Positive) </a:t>
            </a:r>
            <a:r>
              <a:rPr lang="en-US" sz="1200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정상 거래를 사기로 차단 → 외국인 송금 민원·이탈        </a:t>
            </a:r>
            <a:r>
              <a:rPr lang="en-US" sz="1200" b="1" dirty="0">
                <a:solidFill>
                  <a:srgbClr val="3A6EA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미탐 (False Negative) </a:t>
            </a:r>
            <a:r>
              <a:rPr lang="en-US" sz="1200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 사기를 놓침 → 금전 피해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04-C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주요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기능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정의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사기탐지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②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기능별 상세</a:t>
            </a:r>
            <a:endParaRPr sz="250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78992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fraud-guard = 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독립 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MCP 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서버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입출력을 </a:t>
            </a:r>
            <a:r>
              <a:rPr lang="en-US" altLang="ko-KR" sz="125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Pydantic</a:t>
            </a:r>
            <a:r>
              <a:rPr lang="ko-KR" altLang="en-US" sz="125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으로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타입 고정 → 본체와 분리해 독립 개발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lang="en-US" altLang="ko-KR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5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교체</a:t>
            </a:r>
          </a:p>
          <a:p>
            <a:pPr algn="l"/>
            <a:endParaRPr lang="ko-KR" altLang="en-US" sz="1250" b="0" dirty="0">
              <a:solidFill>
                <a:srgbClr val="5158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Picture 2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5" name="Picture 2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87" name="Shape 3">
            <a:extLst>
              <a:ext uri="{FF2B5EF4-FFF2-40B4-BE49-F238E27FC236}">
                <a16:creationId xmlns:a16="http://schemas.microsoft.com/office/drawing/2014/main" id="{21DE8296-6773-67A0-661F-71F277FD1DE5}"/>
              </a:ext>
            </a:extLst>
          </p:cNvPr>
          <p:cNvSpPr/>
          <p:nvPr/>
        </p:nvSpPr>
        <p:spPr>
          <a:xfrm>
            <a:off x="548640" y="1755648"/>
            <a:ext cx="6720840" cy="749808"/>
          </a:xfrm>
          <a:prstGeom prst="roundRect">
            <a:avLst>
              <a:gd name="adj" fmla="val 10976"/>
            </a:avLst>
          </a:prstGeom>
          <a:solidFill>
            <a:srgbClr val="EEF0F6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452EE499-7249-804F-2169-CD36EC023B8D}"/>
              </a:ext>
            </a:extLst>
          </p:cNvPr>
          <p:cNvSpPr/>
          <p:nvPr/>
        </p:nvSpPr>
        <p:spPr>
          <a:xfrm>
            <a:off x="731520" y="1947672"/>
            <a:ext cx="365760" cy="365760"/>
          </a:xfrm>
          <a:prstGeom prst="ellipse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 5">
            <a:extLst>
              <a:ext uri="{FF2B5EF4-FFF2-40B4-BE49-F238E27FC236}">
                <a16:creationId xmlns:a16="http://schemas.microsoft.com/office/drawing/2014/main" id="{54638FDB-4A88-A10B-3CD7-8699FA7D8CBB}"/>
              </a:ext>
            </a:extLst>
          </p:cNvPr>
          <p:cNvSpPr/>
          <p:nvPr/>
        </p:nvSpPr>
        <p:spPr>
          <a:xfrm>
            <a:off x="73152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L1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 6">
            <a:extLst>
              <a:ext uri="{FF2B5EF4-FFF2-40B4-BE49-F238E27FC236}">
                <a16:creationId xmlns:a16="http://schemas.microsoft.com/office/drawing/2014/main" id="{FC2AB8A4-D455-0753-0814-C09177928AAC}"/>
              </a:ext>
            </a:extLst>
          </p:cNvPr>
          <p:cNvSpPr/>
          <p:nvPr/>
        </p:nvSpPr>
        <p:spPr>
          <a:xfrm>
            <a:off x="1280160" y="1847088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룰 (RuleLayer)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거래 로그에 없는 외부 상태(비자 만료일)를 룰로 주입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Shape 7">
            <a:extLst>
              <a:ext uri="{FF2B5EF4-FFF2-40B4-BE49-F238E27FC236}">
                <a16:creationId xmlns:a16="http://schemas.microsoft.com/office/drawing/2014/main" id="{E8363C0E-A7DF-B5E7-3904-B481F554F801}"/>
              </a:ext>
            </a:extLst>
          </p:cNvPr>
          <p:cNvSpPr/>
          <p:nvPr/>
        </p:nvSpPr>
        <p:spPr>
          <a:xfrm>
            <a:off x="5486400" y="1856232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5F8CF525-B7CC-81DA-8692-9D4DB77B062B}"/>
              </a:ext>
            </a:extLst>
          </p:cNvPr>
          <p:cNvSpPr/>
          <p:nvPr/>
        </p:nvSpPr>
        <p:spPr>
          <a:xfrm>
            <a:off x="5486400" y="18562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6EA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미탐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3" name="Text 9">
            <a:extLst>
              <a:ext uri="{FF2B5EF4-FFF2-40B4-BE49-F238E27FC236}">
                <a16:creationId xmlns:a16="http://schemas.microsoft.com/office/drawing/2014/main" id="{6CE2F2A0-FEDB-29E6-D0F5-A25893B1A1C3}"/>
              </a:ext>
            </a:extLst>
          </p:cNvPr>
          <p:cNvSpPr/>
          <p:nvPr/>
        </p:nvSpPr>
        <p:spPr>
          <a:xfrm>
            <a:off x="5486400" y="2194560"/>
            <a:ext cx="1764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6대 결정론 룰</a:t>
            </a:r>
            <a:endParaRPr lang="en-US" sz="900" i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Shape 10">
            <a:extLst>
              <a:ext uri="{FF2B5EF4-FFF2-40B4-BE49-F238E27FC236}">
                <a16:creationId xmlns:a16="http://schemas.microsoft.com/office/drawing/2014/main" id="{FA899FF8-CBB6-4E0C-4F2B-C6D5C102E138}"/>
              </a:ext>
            </a:extLst>
          </p:cNvPr>
          <p:cNvSpPr/>
          <p:nvPr/>
        </p:nvSpPr>
        <p:spPr>
          <a:xfrm>
            <a:off x="1005840" y="2523744"/>
            <a:ext cx="0" cy="164592"/>
          </a:xfrm>
          <a:prstGeom prst="line">
            <a:avLst/>
          </a:prstGeom>
          <a:noFill/>
          <a:ln w="25400">
            <a:solidFill>
              <a:srgbClr val="AEB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Shape 11">
            <a:extLst>
              <a:ext uri="{FF2B5EF4-FFF2-40B4-BE49-F238E27FC236}">
                <a16:creationId xmlns:a16="http://schemas.microsoft.com/office/drawing/2014/main" id="{1F140978-E978-396E-6569-99200FEA7296}"/>
              </a:ext>
            </a:extLst>
          </p:cNvPr>
          <p:cNvSpPr/>
          <p:nvPr/>
        </p:nvSpPr>
        <p:spPr>
          <a:xfrm>
            <a:off x="548640" y="2706624"/>
            <a:ext cx="6720840" cy="749808"/>
          </a:xfrm>
          <a:prstGeom prst="roundRect">
            <a:avLst>
              <a:gd name="adj" fmla="val 10976"/>
            </a:avLst>
          </a:prstGeom>
          <a:solidFill>
            <a:srgbClr val="EEF0F6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62DEF504-7E39-C355-99D6-C01189185105}"/>
              </a:ext>
            </a:extLst>
          </p:cNvPr>
          <p:cNvSpPr/>
          <p:nvPr/>
        </p:nvSpPr>
        <p:spPr>
          <a:xfrm>
            <a:off x="731520" y="2898648"/>
            <a:ext cx="365760" cy="365760"/>
          </a:xfrm>
          <a:prstGeom prst="ellipse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7" name="Text 13">
            <a:extLst>
              <a:ext uri="{FF2B5EF4-FFF2-40B4-BE49-F238E27FC236}">
                <a16:creationId xmlns:a16="http://schemas.microsoft.com/office/drawing/2014/main" id="{A24AC817-56A5-F599-A48D-EC63D74F5982}"/>
              </a:ext>
            </a:extLst>
          </p:cNvPr>
          <p:cNvSpPr/>
          <p:nvPr/>
        </p:nvSpPr>
        <p:spPr>
          <a:xfrm>
            <a:off x="73152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L2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Text 14">
            <a:extLst>
              <a:ext uri="{FF2B5EF4-FFF2-40B4-BE49-F238E27FC236}">
                <a16:creationId xmlns:a16="http://schemas.microsoft.com/office/drawing/2014/main" id="{56701A4A-D75B-F29F-76AC-1ADC5953D9C3}"/>
              </a:ext>
            </a:extLst>
          </p:cNvPr>
          <p:cNvSpPr/>
          <p:nvPr/>
        </p:nvSpPr>
        <p:spPr>
          <a:xfrm>
            <a:off x="1280160" y="2798064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정상분포 (BaselineStore)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(국적×비자) 그룹별 정상분포를 따로 학습 · IF + ECDF 분위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9" name="Shape 15">
            <a:extLst>
              <a:ext uri="{FF2B5EF4-FFF2-40B4-BE49-F238E27FC236}">
                <a16:creationId xmlns:a16="http://schemas.microsoft.com/office/drawing/2014/main" id="{A23DB808-E258-6121-6F67-A3ECA2FE39B7}"/>
              </a:ext>
            </a:extLst>
          </p:cNvPr>
          <p:cNvSpPr/>
          <p:nvPr/>
        </p:nvSpPr>
        <p:spPr>
          <a:xfrm>
            <a:off x="5486400" y="280720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0" name="Text 16">
            <a:extLst>
              <a:ext uri="{FF2B5EF4-FFF2-40B4-BE49-F238E27FC236}">
                <a16:creationId xmlns:a16="http://schemas.microsoft.com/office/drawing/2014/main" id="{C9DE3596-65A9-0225-767E-904B2D96989A}"/>
              </a:ext>
            </a:extLst>
          </p:cNvPr>
          <p:cNvSpPr/>
          <p:nvPr/>
        </p:nvSpPr>
        <p:spPr>
          <a:xfrm>
            <a:off x="5486400" y="28072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454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오탐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1" name="Text 17">
            <a:extLst>
              <a:ext uri="{FF2B5EF4-FFF2-40B4-BE49-F238E27FC236}">
                <a16:creationId xmlns:a16="http://schemas.microsoft.com/office/drawing/2014/main" id="{4E101FF1-8EA1-419F-F201-9811C0E8EBCE}"/>
              </a:ext>
            </a:extLst>
          </p:cNvPr>
          <p:cNvSpPr/>
          <p:nvPr/>
        </p:nvSpPr>
        <p:spPr>
          <a:xfrm>
            <a:off x="5486400" y="3145536"/>
            <a:ext cx="1764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분위수 99 → 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i="1" dirty="0" err="1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</a:t>
            </a: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1%만 보류 = FPR≈1%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Shape 18">
            <a:extLst>
              <a:ext uri="{FF2B5EF4-FFF2-40B4-BE49-F238E27FC236}">
                <a16:creationId xmlns:a16="http://schemas.microsoft.com/office/drawing/2014/main" id="{B908FEE4-FAF6-C244-5C87-45B7E98361F0}"/>
              </a:ext>
            </a:extLst>
          </p:cNvPr>
          <p:cNvSpPr/>
          <p:nvPr/>
        </p:nvSpPr>
        <p:spPr>
          <a:xfrm>
            <a:off x="1005840" y="3474720"/>
            <a:ext cx="0" cy="164592"/>
          </a:xfrm>
          <a:prstGeom prst="line">
            <a:avLst/>
          </a:prstGeom>
          <a:noFill/>
          <a:ln w="25400">
            <a:solidFill>
              <a:srgbClr val="AEB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" name="Shape 19">
            <a:extLst>
              <a:ext uri="{FF2B5EF4-FFF2-40B4-BE49-F238E27FC236}">
                <a16:creationId xmlns:a16="http://schemas.microsoft.com/office/drawing/2014/main" id="{78CE7D33-992D-2386-27CA-BED986E56946}"/>
              </a:ext>
            </a:extLst>
          </p:cNvPr>
          <p:cNvSpPr/>
          <p:nvPr/>
        </p:nvSpPr>
        <p:spPr>
          <a:xfrm>
            <a:off x="548640" y="3657600"/>
            <a:ext cx="6720840" cy="749808"/>
          </a:xfrm>
          <a:prstGeom prst="roundRect">
            <a:avLst>
              <a:gd name="adj" fmla="val 10976"/>
            </a:avLst>
          </a:prstGeom>
          <a:solidFill>
            <a:srgbClr val="EEF0F6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4" name="Shape 20">
            <a:extLst>
              <a:ext uri="{FF2B5EF4-FFF2-40B4-BE49-F238E27FC236}">
                <a16:creationId xmlns:a16="http://schemas.microsoft.com/office/drawing/2014/main" id="{9CA90B41-499C-0706-2798-CF0524BAD7FB}"/>
              </a:ext>
            </a:extLst>
          </p:cNvPr>
          <p:cNvSpPr/>
          <p:nvPr/>
        </p:nvSpPr>
        <p:spPr>
          <a:xfrm>
            <a:off x="731520" y="3849624"/>
            <a:ext cx="365760" cy="365760"/>
          </a:xfrm>
          <a:prstGeom prst="ellipse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5" name="Text 21">
            <a:extLst>
              <a:ext uri="{FF2B5EF4-FFF2-40B4-BE49-F238E27FC236}">
                <a16:creationId xmlns:a16="http://schemas.microsoft.com/office/drawing/2014/main" id="{22B7EDC8-CB7B-CC75-42D0-DBF1A863F1D3}"/>
              </a:ext>
            </a:extLst>
          </p:cNvPr>
          <p:cNvSpPr/>
          <p:nvPr/>
        </p:nvSpPr>
        <p:spPr>
          <a:xfrm>
            <a:off x="73152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L3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6" name="Text 22">
            <a:extLst>
              <a:ext uri="{FF2B5EF4-FFF2-40B4-BE49-F238E27FC236}">
                <a16:creationId xmlns:a16="http://schemas.microsoft.com/office/drawing/2014/main" id="{8C43C52A-1B29-BEA0-4721-D72B372922AC}"/>
              </a:ext>
            </a:extLst>
          </p:cNvPr>
          <p:cNvSpPr/>
          <p:nvPr/>
        </p:nvSpPr>
        <p:spPr>
          <a:xfrm>
            <a:off x="1280160" y="3749040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 (DecisionEngine)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룰축·모델축을 가중합 없이 더 높은 조치로 결합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7" name="Shape 23">
            <a:extLst>
              <a:ext uri="{FF2B5EF4-FFF2-40B4-BE49-F238E27FC236}">
                <a16:creationId xmlns:a16="http://schemas.microsoft.com/office/drawing/2014/main" id="{A16D4D02-2A01-F933-4755-EEEE177BC746}"/>
              </a:ext>
            </a:extLst>
          </p:cNvPr>
          <p:cNvSpPr/>
          <p:nvPr/>
        </p:nvSpPr>
        <p:spPr>
          <a:xfrm>
            <a:off x="5486400" y="375818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8" name="Text 24">
            <a:extLst>
              <a:ext uri="{FF2B5EF4-FFF2-40B4-BE49-F238E27FC236}">
                <a16:creationId xmlns:a16="http://schemas.microsoft.com/office/drawing/2014/main" id="{C25966F7-2F09-09BB-0BFA-BC3FABAAAAC0}"/>
              </a:ext>
            </a:extLst>
          </p:cNvPr>
          <p:cNvSpPr/>
          <p:nvPr/>
        </p:nvSpPr>
        <p:spPr>
          <a:xfrm>
            <a:off x="5486400" y="3758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결합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9" name="Text 25">
            <a:extLst>
              <a:ext uri="{FF2B5EF4-FFF2-40B4-BE49-F238E27FC236}">
                <a16:creationId xmlns:a16="http://schemas.microsoft.com/office/drawing/2014/main" id="{609F7449-28F9-1B67-525D-DC918D2D7E67}"/>
              </a:ext>
            </a:extLst>
          </p:cNvPr>
          <p:cNvSpPr/>
          <p:nvPr/>
        </p:nvSpPr>
        <p:spPr>
          <a:xfrm>
            <a:off x="5486400" y="4087368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보수적 OR 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(스케일 다른 두 축을 가중합 X)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0" name="Shape 26">
            <a:extLst>
              <a:ext uri="{FF2B5EF4-FFF2-40B4-BE49-F238E27FC236}">
                <a16:creationId xmlns:a16="http://schemas.microsoft.com/office/drawing/2014/main" id="{77BB3BCB-3312-574B-EEB7-399583BC5DF9}"/>
              </a:ext>
            </a:extLst>
          </p:cNvPr>
          <p:cNvSpPr/>
          <p:nvPr/>
        </p:nvSpPr>
        <p:spPr>
          <a:xfrm>
            <a:off x="1005840" y="4425696"/>
            <a:ext cx="0" cy="164592"/>
          </a:xfrm>
          <a:prstGeom prst="line">
            <a:avLst/>
          </a:prstGeom>
          <a:noFill/>
          <a:ln w="25400">
            <a:solidFill>
              <a:srgbClr val="AEB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1" name="Shape 27">
            <a:extLst>
              <a:ext uri="{FF2B5EF4-FFF2-40B4-BE49-F238E27FC236}">
                <a16:creationId xmlns:a16="http://schemas.microsoft.com/office/drawing/2014/main" id="{B30A049A-2ACD-27EF-AAFC-E6F200A28DE3}"/>
              </a:ext>
            </a:extLst>
          </p:cNvPr>
          <p:cNvSpPr/>
          <p:nvPr/>
        </p:nvSpPr>
        <p:spPr>
          <a:xfrm>
            <a:off x="548640" y="4608576"/>
            <a:ext cx="6720840" cy="749808"/>
          </a:xfrm>
          <a:prstGeom prst="roundRect">
            <a:avLst>
              <a:gd name="adj" fmla="val 10976"/>
            </a:avLst>
          </a:prstGeom>
          <a:solidFill>
            <a:srgbClr val="EEF0F6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2" name="Shape 28">
            <a:extLst>
              <a:ext uri="{FF2B5EF4-FFF2-40B4-BE49-F238E27FC236}">
                <a16:creationId xmlns:a16="http://schemas.microsoft.com/office/drawing/2014/main" id="{59D69E3A-BED7-8928-4806-848B2B1D67D8}"/>
              </a:ext>
            </a:extLst>
          </p:cNvPr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2B3A6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3" name="Text 29">
            <a:extLst>
              <a:ext uri="{FF2B5EF4-FFF2-40B4-BE49-F238E27FC236}">
                <a16:creationId xmlns:a16="http://schemas.microsoft.com/office/drawing/2014/main" id="{924BD1F0-59B9-04AE-4C8D-4CBAA5A2F655}"/>
              </a:ext>
            </a:extLst>
          </p:cNvPr>
          <p:cNvSpPr/>
          <p:nvPr/>
        </p:nvSpPr>
        <p:spPr>
          <a:xfrm>
            <a:off x="73152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L4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4" name="Text 30">
            <a:extLst>
              <a:ext uri="{FF2B5EF4-FFF2-40B4-BE49-F238E27FC236}">
                <a16:creationId xmlns:a16="http://schemas.microsoft.com/office/drawing/2014/main" id="{B763E9F9-5137-F51B-5430-33812C1AEA39}"/>
              </a:ext>
            </a:extLst>
          </p:cNvPr>
          <p:cNvSpPr/>
          <p:nvPr/>
        </p:nvSpPr>
        <p:spPr>
          <a:xfrm>
            <a:off x="1280160" y="4700016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설명+확인 (Explainer)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보류 거래만 비동기로 설명 + 모국어 본인확인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5" name="Shape 31">
            <a:extLst>
              <a:ext uri="{FF2B5EF4-FFF2-40B4-BE49-F238E27FC236}">
                <a16:creationId xmlns:a16="http://schemas.microsoft.com/office/drawing/2014/main" id="{A2ABFCC1-3812-53D4-9C1C-93F362D203CF}"/>
              </a:ext>
            </a:extLst>
          </p:cNvPr>
          <p:cNvSpPr/>
          <p:nvPr/>
        </p:nvSpPr>
        <p:spPr>
          <a:xfrm>
            <a:off x="5486400" y="4709160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A6EA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6" name="Text 32">
            <a:extLst>
              <a:ext uri="{FF2B5EF4-FFF2-40B4-BE49-F238E27FC236}">
                <a16:creationId xmlns:a16="http://schemas.microsoft.com/office/drawing/2014/main" id="{353AF568-5EF4-740A-06D1-586468044E47}"/>
              </a:ext>
            </a:extLst>
          </p:cNvPr>
          <p:cNvSpPr/>
          <p:nvPr/>
        </p:nvSpPr>
        <p:spPr>
          <a:xfrm>
            <a:off x="5486400" y="47091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6EA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미탐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7" name="Text 33">
            <a:extLst>
              <a:ext uri="{FF2B5EF4-FFF2-40B4-BE49-F238E27FC236}">
                <a16:creationId xmlns:a16="http://schemas.microsoft.com/office/drawing/2014/main" id="{B1943A6F-0D01-EB59-F5BC-B773D2D330BD}"/>
              </a:ext>
            </a:extLst>
          </p:cNvPr>
          <p:cNvSpPr/>
          <p:nvPr/>
        </p:nvSpPr>
        <p:spPr>
          <a:xfrm>
            <a:off x="5486400" y="5038344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Local-DIFFI · 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i="1" dirty="0" err="1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</a:t>
            </a: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900" i="1" dirty="0" err="1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</a:t>
            </a: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900" i="1" dirty="0" err="1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라이브러리</a:t>
            </a: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900" i="1" dirty="0" err="1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없이</a:t>
            </a:r>
            <a:r>
              <a:rPr lang="en-US" sz="900" i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동작</a:t>
            </a:r>
            <a:endParaRPr lang="en-US" sz="9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8" name="Shape 34">
            <a:extLst>
              <a:ext uri="{FF2B5EF4-FFF2-40B4-BE49-F238E27FC236}">
                <a16:creationId xmlns:a16="http://schemas.microsoft.com/office/drawing/2014/main" id="{2928F6E0-1D2C-51DF-8FAE-2B355B4A15E8}"/>
              </a:ext>
            </a:extLst>
          </p:cNvPr>
          <p:cNvSpPr/>
          <p:nvPr/>
        </p:nvSpPr>
        <p:spPr>
          <a:xfrm>
            <a:off x="7726680" y="1755648"/>
            <a:ext cx="3886200" cy="3602736"/>
          </a:xfrm>
          <a:prstGeom prst="roundRect">
            <a:avLst>
              <a:gd name="adj" fmla="val 2030"/>
            </a:avLst>
          </a:prstGeom>
          <a:solidFill>
            <a:srgbClr val="F4F6FB"/>
          </a:solidFill>
          <a:ln w="12700">
            <a:solidFill>
              <a:srgbClr val="D9DC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9" name="Text 35">
            <a:extLst>
              <a:ext uri="{FF2B5EF4-FFF2-40B4-BE49-F238E27FC236}">
                <a16:creationId xmlns:a16="http://schemas.microsoft.com/office/drawing/2014/main" id="{7B4155F0-2E3D-3EED-B00E-EA793A19A78A}"/>
              </a:ext>
            </a:extLst>
          </p:cNvPr>
          <p:cNvSpPr/>
          <p:nvPr/>
        </p:nvSpPr>
        <p:spPr>
          <a:xfrm>
            <a:off x="8001000" y="19751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fraud-guard 연동 구조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0" name="Shape 36">
            <a:extLst>
              <a:ext uri="{FF2B5EF4-FFF2-40B4-BE49-F238E27FC236}">
                <a16:creationId xmlns:a16="http://schemas.microsoft.com/office/drawing/2014/main" id="{1AA08564-7DA3-10F2-174A-400E80E161E5}"/>
              </a:ext>
            </a:extLst>
          </p:cNvPr>
          <p:cNvSpPr/>
          <p:nvPr/>
        </p:nvSpPr>
        <p:spPr>
          <a:xfrm>
            <a:off x="8001000" y="2688336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1F2A5C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1" name="Text 37">
            <a:extLst>
              <a:ext uri="{FF2B5EF4-FFF2-40B4-BE49-F238E27FC236}">
                <a16:creationId xmlns:a16="http://schemas.microsoft.com/office/drawing/2014/main" id="{DF6663B8-36EB-8782-5C04-FFC689637299}"/>
              </a:ext>
            </a:extLst>
          </p:cNvPr>
          <p:cNvSpPr/>
          <p:nvPr/>
        </p:nvSpPr>
        <p:spPr>
          <a:xfrm>
            <a:off x="8001000" y="26883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2" name="Text 38">
            <a:extLst>
              <a:ext uri="{FF2B5EF4-FFF2-40B4-BE49-F238E27FC236}">
                <a16:creationId xmlns:a16="http://schemas.microsoft.com/office/drawing/2014/main" id="{B4CDBB35-26A0-8860-E4B4-4E9FA6FE18F6}"/>
              </a:ext>
            </a:extLst>
          </p:cNvPr>
          <p:cNvSpPr/>
          <p:nvPr/>
        </p:nvSpPr>
        <p:spPr>
          <a:xfrm>
            <a:off x="8823960" y="26151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서류 에이전트(비자 정보) + 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en-US" sz="1100" dirty="0" err="1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</a:t>
            </a:r>
            <a:r>
              <a:rPr lang="en-US" sz="110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100" dirty="0" err="1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거래</a:t>
            </a:r>
            <a:r>
              <a:rPr lang="en-US" sz="110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100" dirty="0" err="1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스트림</a:t>
            </a:r>
            <a:r>
              <a:rPr lang="en-US" sz="110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(거래 내역)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3" name="Shape 39">
            <a:extLst>
              <a:ext uri="{FF2B5EF4-FFF2-40B4-BE49-F238E27FC236}">
                <a16:creationId xmlns:a16="http://schemas.microsoft.com/office/drawing/2014/main" id="{989444B2-1676-F725-9C2A-4999DA607564}"/>
              </a:ext>
            </a:extLst>
          </p:cNvPr>
          <p:cNvSpPr/>
          <p:nvPr/>
        </p:nvSpPr>
        <p:spPr>
          <a:xfrm>
            <a:off x="8357616" y="3054096"/>
            <a:ext cx="0" cy="438912"/>
          </a:xfrm>
          <a:prstGeom prst="line">
            <a:avLst/>
          </a:prstGeom>
          <a:noFill/>
          <a:ln w="19050">
            <a:solidFill>
              <a:srgbClr val="AEB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4" name="Shape 40">
            <a:extLst>
              <a:ext uri="{FF2B5EF4-FFF2-40B4-BE49-F238E27FC236}">
                <a16:creationId xmlns:a16="http://schemas.microsoft.com/office/drawing/2014/main" id="{96E8BEE4-A6E5-BC2E-AA7B-1E0BF4BA0100}"/>
              </a:ext>
            </a:extLst>
          </p:cNvPr>
          <p:cNvSpPr/>
          <p:nvPr/>
        </p:nvSpPr>
        <p:spPr>
          <a:xfrm>
            <a:off x="8001000" y="3639312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1F2A5C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5" name="Text 41">
            <a:extLst>
              <a:ext uri="{FF2B5EF4-FFF2-40B4-BE49-F238E27FC236}">
                <a16:creationId xmlns:a16="http://schemas.microsoft.com/office/drawing/2014/main" id="{D14D013F-E7A6-2A7D-536D-043F1618BF20}"/>
              </a:ext>
            </a:extLst>
          </p:cNvPr>
          <p:cNvSpPr/>
          <p:nvPr/>
        </p:nvSpPr>
        <p:spPr>
          <a:xfrm>
            <a:off x="8001000" y="363931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6" name="Text 42">
            <a:extLst>
              <a:ext uri="{FF2B5EF4-FFF2-40B4-BE49-F238E27FC236}">
                <a16:creationId xmlns:a16="http://schemas.microsoft.com/office/drawing/2014/main" id="{1C10B4B0-3AD0-09FF-8F60-DEE77F2BCA50}"/>
              </a:ext>
            </a:extLst>
          </p:cNvPr>
          <p:cNvSpPr/>
          <p:nvPr/>
        </p:nvSpPr>
        <p:spPr>
          <a:xfrm>
            <a:off x="8823960" y="35661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fraud-guard 독립 MCP 서버 (4계층 L1~L4)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7" name="Shape 43">
            <a:extLst>
              <a:ext uri="{FF2B5EF4-FFF2-40B4-BE49-F238E27FC236}">
                <a16:creationId xmlns:a16="http://schemas.microsoft.com/office/drawing/2014/main" id="{EACD6C44-5E9D-0E78-5356-A7BE1A590DC2}"/>
              </a:ext>
            </a:extLst>
          </p:cNvPr>
          <p:cNvSpPr/>
          <p:nvPr/>
        </p:nvSpPr>
        <p:spPr>
          <a:xfrm>
            <a:off x="8357616" y="4005072"/>
            <a:ext cx="0" cy="438912"/>
          </a:xfrm>
          <a:prstGeom prst="line">
            <a:avLst/>
          </a:prstGeom>
          <a:noFill/>
          <a:ln w="19050">
            <a:solidFill>
              <a:srgbClr val="AEB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8" name="Shape 44">
            <a:extLst>
              <a:ext uri="{FF2B5EF4-FFF2-40B4-BE49-F238E27FC236}">
                <a16:creationId xmlns:a16="http://schemas.microsoft.com/office/drawing/2014/main" id="{DF1FD2F7-AE1A-F3D8-DC48-32058ED3863B}"/>
              </a:ext>
            </a:extLst>
          </p:cNvPr>
          <p:cNvSpPr/>
          <p:nvPr/>
        </p:nvSpPr>
        <p:spPr>
          <a:xfrm>
            <a:off x="8001000" y="459028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1F2A5C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Text 45">
            <a:extLst>
              <a:ext uri="{FF2B5EF4-FFF2-40B4-BE49-F238E27FC236}">
                <a16:creationId xmlns:a16="http://schemas.microsoft.com/office/drawing/2014/main" id="{74E38636-1CA4-9BB5-51AA-7912A53789A1}"/>
              </a:ext>
            </a:extLst>
          </p:cNvPr>
          <p:cNvSpPr/>
          <p:nvPr/>
        </p:nvSpPr>
        <p:spPr>
          <a:xfrm>
            <a:off x="8001000" y="459028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출력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0" name="Text 46">
            <a:extLst>
              <a:ext uri="{FF2B5EF4-FFF2-40B4-BE49-F238E27FC236}">
                <a16:creationId xmlns:a16="http://schemas.microsoft.com/office/drawing/2014/main" id="{DE5D0074-15A5-E29C-4E00-6D852F9D6467}"/>
              </a:ext>
            </a:extLst>
          </p:cNvPr>
          <p:cNvSpPr/>
          <p:nvPr/>
        </p:nvSpPr>
        <p:spPr>
          <a:xfrm>
            <a:off x="8823960" y="45171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333A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탐지 결과 → 오케스트레이터 / 분석가 콘솔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1" name="Text 47">
            <a:extLst>
              <a:ext uri="{FF2B5EF4-FFF2-40B4-BE49-F238E27FC236}">
                <a16:creationId xmlns:a16="http://schemas.microsoft.com/office/drawing/2014/main" id="{E1CF5507-5134-13E8-A673-2586B669D16F}"/>
              </a:ext>
            </a:extLst>
          </p:cNvPr>
          <p:cNvSpPr/>
          <p:nvPr/>
        </p:nvSpPr>
        <p:spPr>
          <a:xfrm>
            <a:off x="548640" y="5504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요약   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2" name="Shape 48">
            <a:extLst>
              <a:ext uri="{FF2B5EF4-FFF2-40B4-BE49-F238E27FC236}">
                <a16:creationId xmlns:a16="http://schemas.microsoft.com/office/drawing/2014/main" id="{A518FC80-7D26-22C6-573E-C48F11C720A8}"/>
              </a:ext>
            </a:extLst>
          </p:cNvPr>
          <p:cNvSpPr/>
          <p:nvPr/>
        </p:nvSpPr>
        <p:spPr>
          <a:xfrm>
            <a:off x="548640" y="581558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D9DC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3" name="Text 49">
            <a:extLst>
              <a:ext uri="{FF2B5EF4-FFF2-40B4-BE49-F238E27FC236}">
                <a16:creationId xmlns:a16="http://schemas.microsoft.com/office/drawing/2014/main" id="{A9FC73C7-46DF-1F42-3E44-0AA93412204D}"/>
              </a:ext>
            </a:extLst>
          </p:cNvPr>
          <p:cNvSpPr/>
          <p:nvPr/>
        </p:nvSpPr>
        <p:spPr>
          <a:xfrm>
            <a:off x="548640" y="581558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 err="1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4" name="Text 50">
            <a:extLst>
              <a:ext uri="{FF2B5EF4-FFF2-40B4-BE49-F238E27FC236}">
                <a16:creationId xmlns:a16="http://schemas.microsoft.com/office/drawing/2014/main" id="{3B638697-16C2-8C4C-7B8D-0B8106882C90}"/>
              </a:ext>
            </a:extLst>
          </p:cNvPr>
          <p:cNvSpPr/>
          <p:nvPr/>
        </p:nvSpPr>
        <p:spPr>
          <a:xfrm>
            <a:off x="2176272" y="5815584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5" name="Shape 51">
            <a:extLst>
              <a:ext uri="{FF2B5EF4-FFF2-40B4-BE49-F238E27FC236}">
                <a16:creationId xmlns:a16="http://schemas.microsoft.com/office/drawing/2014/main" id="{EC933E14-192B-FFEA-03AD-72DB889AFD8A}"/>
              </a:ext>
            </a:extLst>
          </p:cNvPr>
          <p:cNvSpPr/>
          <p:nvPr/>
        </p:nvSpPr>
        <p:spPr>
          <a:xfrm>
            <a:off x="2414016" y="581558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D9DC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6" name="Text 52">
            <a:extLst>
              <a:ext uri="{FF2B5EF4-FFF2-40B4-BE49-F238E27FC236}">
                <a16:creationId xmlns:a16="http://schemas.microsoft.com/office/drawing/2014/main" id="{E67F403B-5366-4207-D5B2-A88C2113C843}"/>
              </a:ext>
            </a:extLst>
          </p:cNvPr>
          <p:cNvSpPr/>
          <p:nvPr/>
        </p:nvSpPr>
        <p:spPr>
          <a:xfrm>
            <a:off x="2414016" y="581558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실시간 채점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(룰·모델)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7" name="Text 53">
            <a:extLst>
              <a:ext uri="{FF2B5EF4-FFF2-40B4-BE49-F238E27FC236}">
                <a16:creationId xmlns:a16="http://schemas.microsoft.com/office/drawing/2014/main" id="{0BBB4983-8F91-FCDF-4B9F-3E25A73FCAF3}"/>
              </a:ext>
            </a:extLst>
          </p:cNvPr>
          <p:cNvSpPr/>
          <p:nvPr/>
        </p:nvSpPr>
        <p:spPr>
          <a:xfrm>
            <a:off x="4041648" y="5815584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8" name="Shape 54">
            <a:extLst>
              <a:ext uri="{FF2B5EF4-FFF2-40B4-BE49-F238E27FC236}">
                <a16:creationId xmlns:a16="http://schemas.microsoft.com/office/drawing/2014/main" id="{04B730B7-22A4-E1C5-499C-DE1E0D78D686}"/>
              </a:ext>
            </a:extLst>
          </p:cNvPr>
          <p:cNvSpPr/>
          <p:nvPr/>
        </p:nvSpPr>
        <p:spPr>
          <a:xfrm>
            <a:off x="4279392" y="581558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D9DC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9" name="Text 55">
            <a:extLst>
              <a:ext uri="{FF2B5EF4-FFF2-40B4-BE49-F238E27FC236}">
                <a16:creationId xmlns:a16="http://schemas.microsoft.com/office/drawing/2014/main" id="{FF7E7A44-AC4C-1C12-E6DC-B1F46DF66456}"/>
              </a:ext>
            </a:extLst>
          </p:cNvPr>
          <p:cNvSpPr/>
          <p:nvPr/>
        </p:nvSpPr>
        <p:spPr>
          <a:xfrm>
            <a:off x="4279392" y="581558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보류 시 설명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0" name="Text 56">
            <a:extLst>
              <a:ext uri="{FF2B5EF4-FFF2-40B4-BE49-F238E27FC236}">
                <a16:creationId xmlns:a16="http://schemas.microsoft.com/office/drawing/2014/main" id="{30EA3F39-1515-FCFC-EA58-E30A232F3E54}"/>
              </a:ext>
            </a:extLst>
          </p:cNvPr>
          <p:cNvSpPr/>
          <p:nvPr/>
        </p:nvSpPr>
        <p:spPr>
          <a:xfrm>
            <a:off x="5907024" y="5815584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1" name="Shape 57">
            <a:extLst>
              <a:ext uri="{FF2B5EF4-FFF2-40B4-BE49-F238E27FC236}">
                <a16:creationId xmlns:a16="http://schemas.microsoft.com/office/drawing/2014/main" id="{BFB5D703-1D7B-8812-B372-242E32273A0A}"/>
              </a:ext>
            </a:extLst>
          </p:cNvPr>
          <p:cNvSpPr/>
          <p:nvPr/>
        </p:nvSpPr>
        <p:spPr>
          <a:xfrm>
            <a:off x="6144768" y="581558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D9DC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2" name="Text 58">
            <a:extLst>
              <a:ext uri="{FF2B5EF4-FFF2-40B4-BE49-F238E27FC236}">
                <a16:creationId xmlns:a16="http://schemas.microsoft.com/office/drawing/2014/main" id="{AC1F731C-9F41-CC6D-BDA8-088AFF4ED2E1}"/>
              </a:ext>
            </a:extLst>
          </p:cNvPr>
          <p:cNvSpPr/>
          <p:nvPr/>
        </p:nvSpPr>
        <p:spPr>
          <a:xfrm>
            <a:off x="6144768" y="581558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모국어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본인확인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3" name="Text 59">
            <a:extLst>
              <a:ext uri="{FF2B5EF4-FFF2-40B4-BE49-F238E27FC236}">
                <a16:creationId xmlns:a16="http://schemas.microsoft.com/office/drawing/2014/main" id="{7BC02A9A-42C0-AF97-8028-1526470FEA0C}"/>
              </a:ext>
            </a:extLst>
          </p:cNvPr>
          <p:cNvSpPr/>
          <p:nvPr/>
        </p:nvSpPr>
        <p:spPr>
          <a:xfrm>
            <a:off x="7772400" y="5815584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4" name="Shape 60">
            <a:extLst>
              <a:ext uri="{FF2B5EF4-FFF2-40B4-BE49-F238E27FC236}">
                <a16:creationId xmlns:a16="http://schemas.microsoft.com/office/drawing/2014/main" id="{C5A05766-5752-1C52-C833-38E0B65762F9}"/>
              </a:ext>
            </a:extLst>
          </p:cNvPr>
          <p:cNvSpPr/>
          <p:nvPr/>
        </p:nvSpPr>
        <p:spPr>
          <a:xfrm>
            <a:off x="8010144" y="581558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D9DC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5" name="Text 61">
            <a:extLst>
              <a:ext uri="{FF2B5EF4-FFF2-40B4-BE49-F238E27FC236}">
                <a16:creationId xmlns:a16="http://schemas.microsoft.com/office/drawing/2014/main" id="{21A2A3FF-6D34-342E-5CE7-C737AE9B155E}"/>
              </a:ext>
            </a:extLst>
          </p:cNvPr>
          <p:cNvSpPr/>
          <p:nvPr/>
        </p:nvSpPr>
        <p:spPr>
          <a:xfrm>
            <a:off x="8010144" y="581558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분석가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트리아지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6" name="Text 62">
            <a:extLst>
              <a:ext uri="{FF2B5EF4-FFF2-40B4-BE49-F238E27FC236}">
                <a16:creationId xmlns:a16="http://schemas.microsoft.com/office/drawing/2014/main" id="{3B846413-7064-5B42-F62E-BF926800F060}"/>
              </a:ext>
            </a:extLst>
          </p:cNvPr>
          <p:cNvSpPr/>
          <p:nvPr/>
        </p:nvSpPr>
        <p:spPr>
          <a:xfrm>
            <a:off x="9637776" y="5815584"/>
            <a:ext cx="237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7" name="Shape 63">
            <a:extLst>
              <a:ext uri="{FF2B5EF4-FFF2-40B4-BE49-F238E27FC236}">
                <a16:creationId xmlns:a16="http://schemas.microsoft.com/office/drawing/2014/main" id="{2E5F03CA-2DC8-6B66-8BB1-3A493DA2075B}"/>
              </a:ext>
            </a:extLst>
          </p:cNvPr>
          <p:cNvSpPr/>
          <p:nvPr/>
        </p:nvSpPr>
        <p:spPr>
          <a:xfrm>
            <a:off x="9875520" y="581558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D9DC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8" name="Text 64">
            <a:extLst>
              <a:ext uri="{FF2B5EF4-FFF2-40B4-BE49-F238E27FC236}">
                <a16:creationId xmlns:a16="http://schemas.microsoft.com/office/drawing/2014/main" id="{C341D860-47A9-286D-1DE7-4283BCAAF515}"/>
              </a:ext>
            </a:extLst>
          </p:cNvPr>
          <p:cNvSpPr/>
          <p:nvPr/>
        </p:nvSpPr>
        <p:spPr>
          <a:xfrm>
            <a:off x="9875520" y="581558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 err="1">
                <a:solidFill>
                  <a:srgbClr val="2B34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및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기술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활용</a:t>
            </a:r>
            <a:endParaRPr sz="250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08792" cy="137160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활용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56232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공용 페르소나 2명 기반 mock data (실데이터 미사용 → 개인정보 리스크 차단)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공식 통계로 분포, 모수 보정 (법무부, 한국은행 ECOS, 금감원)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PaySim, ULB 공개 데이터로 알고리즘 일반성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10908792" cy="137160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모델, 도구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64992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LLM provider switch (.env 한 줄: Claude, Gemini, Groq, Ollama)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MCP 부문 모듈 + Rule Engine + Isolation Forest(scikit-learn)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Clova OCR V2, PyMuPDF(PDF 자동작성), Streamlit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09160"/>
            <a:ext cx="10908792" cy="137160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정직한 검증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73752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‘외국인+비자+사기 라벨’ 공개 데이터 부재 인정 → 합성은 기능 검증용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분위 임계는 오탐률(FPR)만 통제, 미탐(Recall)은 실라벨로 별도 측정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▸ </a:t>
            </a:r>
            <a:r>
              <a:rPr sz="115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수치는 상수 계산식으로 도출(창작 금지), sha256 무결성, 감사 로그</a:t>
            </a:r>
          </a:p>
        </p:txBody>
      </p:sp>
      <p:pic>
        <p:nvPicPr>
          <p:cNvPr id="16" name="Picture 1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06-A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사용자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시나리오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1 -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응웬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반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민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베트남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, E-9)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7899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사람의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귀국기를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세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부문이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처리한다</a:t>
            </a:r>
            <a:endParaRPr sz="1250" b="1" dirty="0">
              <a:solidFill>
                <a:srgbClr val="5158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783080"/>
            <a:ext cx="914400" cy="868680"/>
          </a:xfrm>
          <a:prstGeom prst="ellipse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914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1783080"/>
            <a:ext cx="9765792" cy="86868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78153" y="2002536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능동</a:t>
            </a:r>
            <a:r>
              <a:rPr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점검</a:t>
            </a:r>
            <a:r>
              <a:rPr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3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자산</a:t>
            </a:r>
            <a:r>
              <a:rPr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/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출국만기보험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1,120만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원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소멸시효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3년,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반환일시금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약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496만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원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송금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변경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시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연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42.6만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원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절감을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카드로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안내</a:t>
            </a:r>
            <a:endParaRPr sz="1150" b="0" dirty="0">
              <a:solidFill>
                <a:srgbClr val="161B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978407" y="2660904"/>
            <a:ext cx="237744" cy="164592"/>
          </a:xfrm>
          <a:prstGeom prst="downArrow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2862072"/>
            <a:ext cx="914400" cy="868680"/>
          </a:xfrm>
          <a:prstGeom prst="ellipse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62072"/>
            <a:ext cx="914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2862072"/>
            <a:ext cx="9765792" cy="86868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78153" y="3081529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대리 작성 (서류)</a:t>
            </a:r>
          </a:p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반환일시금 청구서 14항목 중 11개 자동작성(79%) → 서명, 계좌 3개만 본인 확인, 수십 분이 수십 초로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78407" y="3739896"/>
            <a:ext cx="237744" cy="164592"/>
          </a:xfrm>
          <a:prstGeom prst="downArrow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941063"/>
            <a:ext cx="914400" cy="868680"/>
          </a:xfrm>
          <a:prstGeom prst="ellipse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941063"/>
            <a:ext cx="914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3941063"/>
            <a:ext cx="9765792" cy="86868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78153" y="4160520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위험 차단 (사기탐지)</a:t>
            </a:r>
          </a:p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출국 6일 전 신규 기기 홍콩 송금 → 보류 + 베트남어 본인확인 / 매월 정기 송금은 통과(오탐 방지)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78407" y="4818888"/>
            <a:ext cx="237744" cy="164592"/>
          </a:xfrm>
          <a:prstGeom prst="downArrow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" y="5020056"/>
            <a:ext cx="914400" cy="868680"/>
          </a:xfrm>
          <a:prstGeom prst="ellipse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020056"/>
            <a:ext cx="914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83080" y="5020056"/>
            <a:ext cx="9765792" cy="86868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78153" y="5239513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작업 매듭</a:t>
            </a:r>
          </a:p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종결 신호와 함께 남은 작업 재추천, 완료 건은 제외</a:t>
            </a:r>
          </a:p>
        </p:txBody>
      </p:sp>
      <p:pic>
        <p:nvPicPr>
          <p:cNvPr id="27" name="Picture 2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8" name="Picture 2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06-B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사용자 시나리오 2 - 수만 라이 (네팔, D-2 유학생)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7899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묶인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돈을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풀고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신용을</a:t>
            </a:r>
            <a:r>
              <a:rPr sz="1250" b="1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쌓는다</a:t>
            </a:r>
            <a:endParaRPr sz="1250" b="1" dirty="0">
              <a:solidFill>
                <a:srgbClr val="5158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783080"/>
            <a:ext cx="914400" cy="868680"/>
          </a:xfrm>
          <a:prstGeom prst="ellipse">
            <a:avLst/>
          </a:prstGeom>
          <a:solidFill>
            <a:srgbClr val="3A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914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1783080"/>
            <a:ext cx="9765792" cy="86868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57400" y="2002536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유동성</a:t>
            </a:r>
            <a:r>
              <a:rPr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확보</a:t>
            </a:r>
            <a:endParaRPr sz="13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비자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유지로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묶인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잔고증명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2,000만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원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예금담보대출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한도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1,900만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원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(95%)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제시</a:t>
            </a:r>
            <a:endParaRPr sz="1150" b="0" dirty="0">
              <a:solidFill>
                <a:srgbClr val="161B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978407" y="2660904"/>
            <a:ext cx="237744" cy="164592"/>
          </a:xfrm>
          <a:prstGeom prst="downArrow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2862072"/>
            <a:ext cx="914400" cy="868680"/>
          </a:xfrm>
          <a:prstGeom prst="ellipse">
            <a:avLst/>
          </a:prstGeom>
          <a:solidFill>
            <a:srgbClr val="3A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62072"/>
            <a:ext cx="914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2862072"/>
            <a:ext cx="9765792" cy="86868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3081529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전세사기 방어</a:t>
            </a:r>
          </a:p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임대차계약서 업로드 → 전세가율 80% 초과 고위험 판정 → “보증금을 송금하지 마세요” 네팔어 경고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78407" y="3739896"/>
            <a:ext cx="237744" cy="164592"/>
          </a:xfrm>
          <a:prstGeom prst="downArrow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941063"/>
            <a:ext cx="914400" cy="868680"/>
          </a:xfrm>
          <a:prstGeom prst="ellipse">
            <a:avLst/>
          </a:prstGeom>
          <a:solidFill>
            <a:srgbClr val="3A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941063"/>
            <a:ext cx="914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3941063"/>
            <a:ext cx="9765792" cy="86868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57400" y="4160520"/>
            <a:ext cx="92354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신용 축적</a:t>
            </a:r>
          </a:p>
          <a:p>
            <a:pPr algn="l"/>
            <a:r>
              <a:rPr sz="115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월세, 통신비 납부 이력 축적(6개월 형성→18개월 완성) → 졸업 후 E-7 전환 시 우량 고객으로 연결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78407" y="4818888"/>
            <a:ext cx="237744" cy="164592"/>
          </a:xfrm>
          <a:prstGeom prst="downArrow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" y="5020056"/>
            <a:ext cx="914400" cy="868680"/>
          </a:xfrm>
          <a:prstGeom prst="ellipse">
            <a:avLst/>
          </a:prstGeom>
          <a:solidFill>
            <a:srgbClr val="3A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020056"/>
            <a:ext cx="914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C5D2E8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83080" y="5020056"/>
            <a:ext cx="9765792" cy="86868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57400" y="5239513"/>
            <a:ext cx="923544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정직한</a:t>
            </a:r>
            <a:r>
              <a:rPr sz="13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안내</a:t>
            </a:r>
            <a:endParaRPr sz="13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연금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질문에는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“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납부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0개월이라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수령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불가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” </a:t>
            </a:r>
            <a:r>
              <a:rPr lang="en-US" altLang="ko-KR"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불리한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사실도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근거와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115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정직하게</a:t>
            </a:r>
            <a:endParaRPr sz="1150" b="0" dirty="0">
              <a:solidFill>
                <a:srgbClr val="161B26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7" name="Picture 2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8" name="Picture 2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07-A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기대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효과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및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향후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확장성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- JB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사업</a:t>
            </a:r>
            <a:r>
              <a:rPr sz="25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연계</a:t>
            </a:r>
            <a:endParaRPr sz="250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440680" cy="120700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7720" y="2121408"/>
            <a:ext cx="50383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외국인</a:t>
            </a:r>
            <a:r>
              <a:rPr sz="14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금융서비스</a:t>
            </a:r>
            <a:r>
              <a:rPr sz="14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회원</a:t>
            </a:r>
            <a:r>
              <a:rPr sz="140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 21만 </a:t>
            </a:r>
            <a:r>
              <a:rPr sz="140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명</a:t>
            </a:r>
            <a:endParaRPr sz="140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2024.10 </a:t>
            </a:r>
            <a:r>
              <a:rPr sz="110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출시</a:t>
            </a:r>
            <a:r>
              <a:rPr sz="110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채널에</a:t>
            </a:r>
            <a:r>
              <a:rPr sz="110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110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탑재</a:t>
            </a:r>
            <a:r>
              <a:rPr sz="110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 (2026.1 </a:t>
            </a:r>
            <a:r>
              <a:rPr sz="1100" b="0" dirty="0" err="1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100" b="0" dirty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5440680" cy="120700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7720" y="3493008"/>
            <a:ext cx="50383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한패스, 핀다 지분 제휴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송금(한패스), 대출(핀다) 실행 파트너로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5440680" cy="120700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7720" y="4864608"/>
            <a:ext cx="50383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유학생 신용 선점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취업 희망 86.5% vs 전환 22.4%의 빈 시장 선점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고객 여정 안의 활용 접점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40280"/>
            <a:ext cx="5193792" cy="84124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2240280"/>
            <a:ext cx="118872" cy="841248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3972" y="2496312"/>
            <a:ext cx="4754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입국</a:t>
            </a:r>
            <a:r>
              <a:rPr sz="1250" b="1" dirty="0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1" dirty="0" err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정착</a:t>
            </a:r>
            <a:endParaRPr sz="1250" b="1" dirty="0">
              <a:solidFill>
                <a:srgbClr val="14264F"/>
              </a:solidFill>
              <a:latin typeface="Pretendard"/>
              <a:ea typeface="Pretendard"/>
              <a:cs typeface="Pretendard"/>
            </a:endParaRPr>
          </a:p>
          <a:p>
            <a:pPr algn="l">
              <a:spcBef>
                <a:spcPts val="100"/>
              </a:spcBef>
            </a:pPr>
            <a:r>
              <a:rPr sz="10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계좌개설</a:t>
            </a:r>
            <a:r>
              <a:rPr sz="10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실명검증</a:t>
            </a:r>
            <a:r>
              <a:rPr sz="10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0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한도계좌</a:t>
            </a:r>
            <a:r>
              <a:rPr sz="1050" b="0" dirty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안내</a:t>
            </a:r>
            <a:endParaRPr sz="1050" b="0" dirty="0">
              <a:solidFill>
                <a:srgbClr val="5158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55080" y="3200400"/>
            <a:ext cx="5193792" cy="84124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3200400"/>
            <a:ext cx="118872" cy="841248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3972" y="3456432"/>
            <a:ext cx="4754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정착 안정화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송금 최적화, 대안신용, 오탐 방지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160520"/>
            <a:ext cx="5193792" cy="84124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4160520"/>
            <a:ext cx="118872" cy="841248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3972" y="4416552"/>
            <a:ext cx="4754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체류 확장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비자연장 D-90, 전세 심사, E-7 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5120640"/>
            <a:ext cx="5193792" cy="841248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5120640"/>
            <a:ext cx="118872" cy="841248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33972" y="5376672"/>
            <a:ext cx="4754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귀국, 사후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515869"/>
                </a:solidFill>
                <a:latin typeface="Pretendard"/>
                <a:ea typeface="Pretendard"/>
                <a:cs typeface="Pretendard"/>
              </a:rPr>
              <a:t>반환일시금 청구, 계좌양도 차단, 상환 Loop</a:t>
            </a:r>
          </a:p>
        </p:txBody>
      </p:sp>
      <p:pic>
        <p:nvPicPr>
          <p:cNvPr id="26" name="Picture 2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7" name="Picture 2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07-B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기대 효과 및 향후 확장성 - 정량 효과와 리스크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40680" cy="4389120"/>
          </a:xfrm>
          <a:prstGeom prst="round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7260" y="2066543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기대효과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" y="2569464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고객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수령 누락 1인 약 1,600만 원 방지, 송금 연 42.6만 원 절감, 서류 수십 분→수십 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" y="3465576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리스크 감소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출국 전 정상 상환 + Closed-Loop로 외국인 대출 연체율(그룹 1.5배)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" y="4361688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업무 효율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창구 응대 부담 경감, FDS 분석가 트리아지 효율화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" y="52578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수익 기회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B26"/>
                </a:solidFill>
                <a:latin typeface="Pretendard"/>
                <a:ea typeface="Pretendard"/>
                <a:cs typeface="Pretendard"/>
              </a:rPr>
              <a:t>유학생 신용 선점, E-7 우량 고객, 송금, 대출, 신용 교차판매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285232" cy="4389120"/>
          </a:xfrm>
          <a:prstGeom prst="round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0820" y="2066543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 리스크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0820" y="256946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개인정보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mock 데이터 시연, 키 분리, 동의, 암호화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0820" y="3465576"/>
            <a:ext cx="4846320" cy="387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Hallucination</a:t>
            </a:r>
            <a:endParaRPr sz="125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5000"/>
              </a:lnSpc>
            </a:pPr>
            <a:r>
              <a:rPr sz="1100" b="0" dirty="0" err="1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수치는</a:t>
            </a:r>
            <a:r>
              <a:rPr sz="1100" b="0" dirty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계산식</a:t>
            </a:r>
            <a:r>
              <a:rPr sz="1100" b="0" dirty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도출</a:t>
            </a:r>
            <a:r>
              <a:rPr sz="1100" b="0" dirty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법령은</a:t>
            </a:r>
            <a:r>
              <a:rPr sz="1100" b="0" dirty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규칙</a:t>
            </a:r>
            <a:r>
              <a:rPr sz="1100" b="0" dirty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우선</a:t>
            </a:r>
            <a:r>
              <a:rPr sz="1100" b="0" dirty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, JSON 2차 </a:t>
            </a:r>
            <a:r>
              <a:rPr sz="1100" b="0" dirty="0" err="1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1100" b="0" dirty="0">
              <a:solidFill>
                <a:srgbClr val="DDE3E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60820" y="436168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설명가능성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근거 수치 동봉, 보류건 기여 피처 설명, 과정 공개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0820" y="52578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책임소재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DDE3EF"/>
                </a:solidFill>
                <a:latin typeface="Pretendard"/>
                <a:ea typeface="Pretendard"/>
                <a:cs typeface="Pretendard"/>
              </a:rPr>
              <a:t>soft_block(보류+확인), 본인 승인, 감사 로그</a:t>
            </a:r>
          </a:p>
        </p:txBody>
      </p:sp>
      <p:pic>
        <p:nvPicPr>
          <p:cNvPr id="19" name="Picture 1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07-C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20624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264F"/>
                </a:solidFill>
                <a:latin typeface="Pretendard"/>
                <a:ea typeface="Pretendard"/>
                <a:cs typeface="Pretendard"/>
              </a:rPr>
              <a:t>기대 효과 및 향후 확장성 - 확장, 발전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554480" cy="54864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55664"/>
            <a:ext cx="10911535" cy="10972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565392"/>
            <a:ext cx="1083212" cy="182880"/>
          </a:xfrm>
          <a:prstGeom prst="rect">
            <a:avLst/>
          </a:prstGeom>
        </p:spPr>
      </p:pic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510528"/>
            <a:ext cx="797242" cy="27432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8ECB580B-6E91-3170-7E8B-734BCF6AE976}"/>
              </a:ext>
            </a:extLst>
          </p:cNvPr>
          <p:cNvSpPr/>
          <p:nvPr/>
        </p:nvSpPr>
        <p:spPr>
          <a:xfrm>
            <a:off x="548640" y="2194560"/>
            <a:ext cx="2484882" cy="914400"/>
          </a:xfrm>
          <a:prstGeom prst="roundRect">
            <a:avLst>
              <a:gd name="adj" fmla="val 10000"/>
            </a:avLst>
          </a:prstGeom>
          <a:solidFill>
            <a:srgbClr val="16224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1884446-3983-E8AB-2F0B-A757FF25F3BD}"/>
              </a:ext>
            </a:extLst>
          </p:cNvPr>
          <p:cNvSpPr/>
          <p:nvPr/>
        </p:nvSpPr>
        <p:spPr>
          <a:xfrm>
            <a:off x="548640" y="2194560"/>
            <a:ext cx="2484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MVP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B614CAA-4A8D-AC68-FB9F-D0E05C2053AD}"/>
              </a:ext>
            </a:extLst>
          </p:cNvPr>
          <p:cNvSpPr/>
          <p:nvPr/>
        </p:nvSpPr>
        <p:spPr>
          <a:xfrm>
            <a:off x="3070098" y="2532888"/>
            <a:ext cx="310896" cy="237744"/>
          </a:xfrm>
          <a:prstGeom prst="rightArrow">
            <a:avLst/>
          </a:prstGeom>
          <a:solidFill>
            <a:srgbClr val="8A93AE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49BFCCAD-BB3B-891D-3C95-8C9AFAA0134B}"/>
              </a:ext>
            </a:extLst>
          </p:cNvPr>
          <p:cNvSpPr/>
          <p:nvPr/>
        </p:nvSpPr>
        <p:spPr>
          <a:xfrm>
            <a:off x="548640" y="3337560"/>
            <a:ext cx="2484882" cy="1463040"/>
          </a:xfrm>
          <a:prstGeom prst="roundRect">
            <a:avLst>
              <a:gd name="adj" fmla="val 625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1B1D81D-B15B-26AB-86F3-10D477A28637}"/>
              </a:ext>
            </a:extLst>
          </p:cNvPr>
          <p:cNvSpPr/>
          <p:nvPr/>
        </p:nvSpPr>
        <p:spPr>
          <a:xfrm>
            <a:off x="804672" y="3337560"/>
            <a:ext cx="1972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mock 기반 3부문 통합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판단, 행동, 검증 실동작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5CF13AF-AF56-7BA4-02A1-1A94D6FEB7D0}"/>
              </a:ext>
            </a:extLst>
          </p:cNvPr>
          <p:cNvSpPr/>
          <p:nvPr/>
        </p:nvSpPr>
        <p:spPr>
          <a:xfrm>
            <a:off x="3417570" y="2194560"/>
            <a:ext cx="2484882" cy="914400"/>
          </a:xfrm>
          <a:prstGeom prst="roundRect">
            <a:avLst>
              <a:gd name="adj" fmla="val 10000"/>
            </a:avLst>
          </a:prstGeom>
          <a:solidFill>
            <a:srgbClr val="26346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3651ACCC-687F-A5CF-8DBA-80E76D36A156}"/>
              </a:ext>
            </a:extLst>
          </p:cNvPr>
          <p:cNvSpPr/>
          <p:nvPr/>
        </p:nvSpPr>
        <p:spPr>
          <a:xfrm>
            <a:off x="3417570" y="2194560"/>
            <a:ext cx="2484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PoC / 파일럿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3738B280-E656-0A89-014A-6C0A32CC0D37}"/>
              </a:ext>
            </a:extLst>
          </p:cNvPr>
          <p:cNvSpPr/>
          <p:nvPr/>
        </p:nvSpPr>
        <p:spPr>
          <a:xfrm>
            <a:off x="5939028" y="2532888"/>
            <a:ext cx="310896" cy="237744"/>
          </a:xfrm>
          <a:prstGeom prst="rightArrow">
            <a:avLst/>
          </a:prstGeom>
          <a:solidFill>
            <a:srgbClr val="8A93AE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062BF63D-9D89-F28D-68DA-B904ED8935FE}"/>
              </a:ext>
            </a:extLst>
          </p:cNvPr>
          <p:cNvSpPr/>
          <p:nvPr/>
        </p:nvSpPr>
        <p:spPr>
          <a:xfrm>
            <a:off x="3417570" y="3337560"/>
            <a:ext cx="2484882" cy="1463040"/>
          </a:xfrm>
          <a:prstGeom prst="roundRect">
            <a:avLst>
              <a:gd name="adj" fmla="val 625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817EB345-964C-E08B-3ED1-F5C841FAB512}"/>
              </a:ext>
            </a:extLst>
          </p:cNvPr>
          <p:cNvSpPr/>
          <p:nvPr/>
        </p:nvSpPr>
        <p:spPr>
          <a:xfrm>
            <a:off x="3673602" y="3337560"/>
            <a:ext cx="1972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회원 21만 채널 베타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실거래 라벨 수집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7C0D2CE1-FC3B-E646-77B3-439DD33DAE74}"/>
              </a:ext>
            </a:extLst>
          </p:cNvPr>
          <p:cNvSpPr/>
          <p:nvPr/>
        </p:nvSpPr>
        <p:spPr>
          <a:xfrm>
            <a:off x="6286500" y="2194560"/>
            <a:ext cx="2484882" cy="914400"/>
          </a:xfrm>
          <a:prstGeom prst="roundRect">
            <a:avLst>
              <a:gd name="adj" fmla="val 10000"/>
            </a:avLst>
          </a:prstGeom>
          <a:solidFill>
            <a:srgbClr val="3749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1A867249-C395-6B23-6F4F-F60546910DAE}"/>
              </a:ext>
            </a:extLst>
          </p:cNvPr>
          <p:cNvSpPr/>
          <p:nvPr/>
        </p:nvSpPr>
        <p:spPr>
          <a:xfrm>
            <a:off x="6286500" y="2194560"/>
            <a:ext cx="2484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내부 적용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D73856B7-B65A-4B4C-ECA4-80AD6E3F52AF}"/>
              </a:ext>
            </a:extLst>
          </p:cNvPr>
          <p:cNvSpPr/>
          <p:nvPr/>
        </p:nvSpPr>
        <p:spPr>
          <a:xfrm>
            <a:off x="8807958" y="2532888"/>
            <a:ext cx="310896" cy="237744"/>
          </a:xfrm>
          <a:prstGeom prst="rightArrow">
            <a:avLst/>
          </a:prstGeom>
          <a:solidFill>
            <a:srgbClr val="8A93AE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360FE65C-76C8-BBB9-8671-012DA12B9149}"/>
              </a:ext>
            </a:extLst>
          </p:cNvPr>
          <p:cNvSpPr/>
          <p:nvPr/>
        </p:nvSpPr>
        <p:spPr>
          <a:xfrm>
            <a:off x="6286500" y="3337560"/>
            <a:ext cx="2484882" cy="1463040"/>
          </a:xfrm>
          <a:prstGeom prst="roundRect">
            <a:avLst>
              <a:gd name="adj" fmla="val 625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50BBC680-BB8F-37A5-94F6-1F44F8F5F48F}"/>
              </a:ext>
            </a:extLst>
          </p:cNvPr>
          <p:cNvSpPr/>
          <p:nvPr/>
        </p:nvSpPr>
        <p:spPr>
          <a:xfrm>
            <a:off x="6542532" y="3337560"/>
            <a:ext cx="1972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FDS 콘솔, 창구 자동작성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실라벨로 임계 보정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DFF2B38F-0A15-D465-ABD5-2245876B1C1A}"/>
              </a:ext>
            </a:extLst>
          </p:cNvPr>
          <p:cNvSpPr/>
          <p:nvPr/>
        </p:nvSpPr>
        <p:spPr>
          <a:xfrm>
            <a:off x="9155430" y="2194560"/>
            <a:ext cx="2484882" cy="914400"/>
          </a:xfrm>
          <a:prstGeom prst="roundRect">
            <a:avLst>
              <a:gd name="adj" fmla="val 10000"/>
            </a:avLst>
          </a:prstGeom>
          <a:solidFill>
            <a:srgbClr val="4A60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C760BC74-3014-3BBB-1FA6-0ABE9D293157}"/>
              </a:ext>
            </a:extLst>
          </p:cNvPr>
          <p:cNvSpPr/>
          <p:nvPr/>
        </p:nvSpPr>
        <p:spPr>
          <a:xfrm>
            <a:off x="9155430" y="2194560"/>
            <a:ext cx="24848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서비스화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58962E91-2FF6-C4A3-72E3-82072A4AEE6A}"/>
              </a:ext>
            </a:extLst>
          </p:cNvPr>
          <p:cNvSpPr/>
          <p:nvPr/>
        </p:nvSpPr>
        <p:spPr>
          <a:xfrm>
            <a:off x="9155430" y="3337560"/>
            <a:ext cx="2484882" cy="1463040"/>
          </a:xfrm>
          <a:prstGeom prst="roundRect">
            <a:avLst>
              <a:gd name="adj" fmla="val 625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77BC3E98-4E68-6A27-6624-C5D5F1CA3499}"/>
              </a:ext>
            </a:extLst>
          </p:cNvPr>
          <p:cNvSpPr/>
          <p:nvPr/>
        </p:nvSpPr>
        <p:spPr>
          <a:xfrm>
            <a:off x="9411462" y="3337560"/>
            <a:ext cx="1972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생애주기 능동 동행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상환 Loop, 신용 선점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2232</Words>
  <Application>Microsoft Macintosh PowerPoint</Application>
  <PresentationFormat>와이드스크린</PresentationFormat>
  <Paragraphs>386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맑은 고딕</vt:lpstr>
      <vt:lpstr>Pretendard</vt:lpstr>
      <vt:lpstr>Pretendard Medium</vt:lpstr>
      <vt:lpstr>Pretendard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곽동우</cp:lastModifiedBy>
  <cp:revision>47</cp:revision>
  <dcterms:created xsi:type="dcterms:W3CDTF">2013-01-27T09:14:16Z</dcterms:created>
  <dcterms:modified xsi:type="dcterms:W3CDTF">2026-06-12T17:28:54Z</dcterms:modified>
  <cp:category/>
</cp:coreProperties>
</file>